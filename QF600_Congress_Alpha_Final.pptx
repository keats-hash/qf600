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Long-only β</c:v>
                </c:pt>
              </c:strCache>
            </c:strRef>
          </c:tx>
          <c:spPr>
            <a:solidFill>
              <a:srgbClr val="1C7293"/>
            </a:solidFill>
            <a:effectLst/>
          </c:spPr>
          <c:invertIfNegative val="0"/>
          <c:dLbls>
            <c:numFmt formatCode="0.00;-0.00" sourceLinked="0"/>
            <c:txPr>
              <a:bodyPr/>
              <a:lstStyle/>
              <a:p>
                <a:pPr>
                  <a:defRPr b="0" i="0" strike="noStrike" sz="1200" u="none">
                    <a:solidFill>
                      <a:srgbClr val="1A2332"/>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Track A</c:v>
                  </c:pt>
                  <c:pt idx="1">
                    <c:v>Armed Services</c:v>
                  </c:pt>
                </c:lvl>
              </c:multiLvlStrCache>
            </c:multiLvlStrRef>
          </c:cat>
          <c:val>
            <c:numRef>
              <c:f>Sheet1!$B$2:$B$3</c:f>
              <c:numCache>
                <c:formatCode>General</c:formatCode>
                <c:ptCount val="2"/>
                <c:pt idx="0">
                  <c:v>1.03</c:v>
                </c:pt>
                <c:pt idx="1">
                  <c:v>1.24</c:v>
                </c:pt>
              </c:numCache>
            </c:numRef>
          </c:val>
        </c:ser>
        <c:ser>
          <c:idx val="1"/>
          <c:order val="1"/>
          <c:tx>
            <c:strRef>
              <c:f>Sheet1!$C$1</c:f>
              <c:strCache>
                <c:ptCount val="1"/>
                <c:pt idx="0">
                  <c:v>Long–short β</c:v>
                </c:pt>
              </c:strCache>
            </c:strRef>
          </c:tx>
          <c:spPr>
            <a:solidFill>
              <a:srgbClr val="E8A93A"/>
            </a:solidFill>
            <a:effectLst/>
          </c:spPr>
          <c:invertIfNegative val="0"/>
          <c:dLbls>
            <c:numFmt formatCode="0.00;-0.00" sourceLinked="0"/>
            <c:txPr>
              <a:bodyPr/>
              <a:lstStyle/>
              <a:p>
                <a:pPr>
                  <a:defRPr b="0" i="0" strike="noStrike" sz="1200" u="none">
                    <a:solidFill>
                      <a:srgbClr val="1A2332"/>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Track A</c:v>
                  </c:pt>
                  <c:pt idx="1">
                    <c:v>Armed Services</c:v>
                  </c:pt>
                </c:lvl>
              </c:multiLvlStrCache>
            </c:multiLvlStrRef>
          </c:cat>
          <c:val>
            <c:numRef>
              <c:f>Sheet1!$C$2:$C$3</c:f>
              <c:numCache>
                <c:formatCode>General</c:formatCode>
                <c:ptCount val="2"/>
                <c:pt idx="0">
                  <c:v>-0.18</c:v>
                </c:pt>
                <c:pt idx="1">
                  <c:v>-0.01</c:v>
                </c:pt>
              </c:numCache>
            </c:numRef>
          </c:val>
        </c:ser>
        <c:dLbls>
          <c:numFmt formatCode="0.00;-0.00" sourceLinked="0"/>
          <c:txPr>
            <a:bodyPr/>
            <a:lstStyle/>
            <a:p>
              <a:pPr>
                <a:defRPr b="0" i="0" strike="noStrike" sz="1200" u="none">
                  <a:solidFill>
                    <a:srgbClr val="1A233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332"/>
                </a:solidFill>
                <a:latin typeface="Calibri"/>
              </a:defRPr>
            </a:pPr>
            <a:endParaRPr lang="en-US"/>
          </a:p>
        </c:txPr>
        <c:crossAx val="2094734552"/>
        <c:crosses val="autoZero"/>
        <c:auto val="1"/>
        <c:lblAlgn val="ctr"/>
        <c:noMultiLvlLbl val="1"/>
      </c:catAx>
      <c:valAx>
        <c:axId val="2094734552"/>
        <c:scaling>
          <c:orientation val="minMax"/>
          <c:max val="1.4"/>
          <c:min val="-0.4"/>
        </c:scaling>
        <c:delete val="0"/>
        <c:axPos val="l"/>
        <c:majorGridlines>
          <c:spPr>
            <a:ln w="12700" cap="flat">
              <a:solidFill>
                <a:srgbClr val="D8DEE4"/>
              </a:solidFill>
              <a:prstDash val="solid"/>
              <a:round/>
            </a:ln>
          </c:spPr>
        </c:majorGridlines>
        <c:title>
          <c:tx>
            <c:rich>
              <a:bodyPr/>
              <a:lstStyle/>
              <a:p>
                <a:pPr>
                  <a:defRPr sz="1100" b="0" i="0" u="none" strike="noStrike">
                    <a:solidFill>
                      <a:srgbClr val="5A6B7B"/>
                    </a:solidFill>
                    <a:latin typeface="Calibri"/>
                  </a:defRPr>
                </a:pPr>
                <a:r>
                  <a:rPr sz="1100" b="0" i="0" u="none" strike="noStrike">
                    <a:solidFill>
                      <a:srgbClr val="5A6B7B"/>
                    </a:solidFill>
                    <a:latin typeface="Calibri"/>
                  </a:rPr>
                  <a:t>market beta β</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7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8869680" y="-1554480"/>
            <a:ext cx="4937760" cy="4937760"/>
          </a:xfrm>
          <a:prstGeom prst="ellipse">
            <a:avLst/>
          </a:prstGeom>
          <a:solidFill>
            <a:srgbClr val="1B3A5F"/>
          </a:solidFill>
          <a:ln/>
        </p:spPr>
      </p:sp>
      <p:sp>
        <p:nvSpPr>
          <p:cNvPr id="3" name="Shape 1"/>
          <p:cNvSpPr/>
          <p:nvPr/>
        </p:nvSpPr>
        <p:spPr>
          <a:xfrm>
            <a:off x="10515600" y="3657600"/>
            <a:ext cx="3291840" cy="3291840"/>
          </a:xfrm>
          <a:prstGeom prst="ellipse">
            <a:avLst/>
          </a:prstGeom>
          <a:solidFill>
            <a:srgbClr val="22344A"/>
          </a:solidFill>
          <a:ln/>
        </p:spPr>
      </p:sp>
      <p:sp>
        <p:nvSpPr>
          <p:cNvPr id="4" name="Text 2"/>
          <p:cNvSpPr txBox="1"/>
          <p:nvPr/>
        </p:nvSpPr>
        <p:spPr>
          <a:xfrm>
            <a:off x="822960" y="1600200"/>
            <a:ext cx="9144000" cy="365760"/>
          </a:xfrm>
          <a:prstGeom prst="rect">
            <a:avLst/>
          </a:prstGeom>
          <a:noFill/>
          <a:ln/>
        </p:spPr>
        <p:txBody>
          <a:bodyPr wrap="square" lIns="0" tIns="0" rIns="0" bIns="0" rtlCol="0" anchor="ctr"/>
          <a:lstStyle/>
          <a:p>
            <a:pPr indent="0" marL="0">
              <a:buNone/>
            </a:pPr>
            <a:r>
              <a:rPr lang="en-US" sz="1400" b="1" spc="200" kern="0" dirty="0">
                <a:solidFill>
                  <a:srgbClr val="2AA9C7"/>
                </a:solidFill>
                <a:latin typeface="Calibri" pitchFamily="34" charset="0"/>
                <a:ea typeface="Calibri" pitchFamily="34" charset="-122"/>
                <a:cs typeface="Calibri" pitchFamily="34" charset="-120"/>
              </a:rPr>
              <a:t>QF600 · ASSET PRICING · EMPIRICAL STUDY</a:t>
            </a:r>
            <a:endParaRPr lang="en-US" sz="1400" dirty="0"/>
          </a:p>
        </p:txBody>
      </p:sp>
      <p:sp>
        <p:nvSpPr>
          <p:cNvPr id="5" name="Text 3"/>
          <p:cNvSpPr txBox="1"/>
          <p:nvPr/>
        </p:nvSpPr>
        <p:spPr>
          <a:xfrm>
            <a:off x="822960" y="2011680"/>
            <a:ext cx="10424160" cy="173736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Century Schoolbook" pitchFamily="34" charset="0"/>
                <a:ea typeface="Century Schoolbook" pitchFamily="34" charset="-122"/>
                <a:cs typeface="Century Schoolbook" pitchFamily="34" charset="-120"/>
              </a:rPr>
              <a:t>Do Congressional Traders Generate
</a:t>
            </a:r>
            <a:pPr indent="0" marL="0">
              <a:lnSpc>
                <a:spcPct val="102000"/>
              </a:lnSpc>
              <a:buNone/>
            </a:pPr>
            <a:r>
              <a:rPr lang="en-US" sz="4000" b="1" dirty="0">
                <a:solidFill>
                  <a:srgbClr val="FFFFFF"/>
                </a:solidFill>
                <a:latin typeface="Century Schoolbook" pitchFamily="34" charset="0"/>
                <a:ea typeface="Century Schoolbook" pitchFamily="34" charset="-122"/>
                <a:cs typeface="Century Schoolbook" pitchFamily="34" charset="-120"/>
              </a:rPr>
              <a:t>Risk-Adjusted </a:t>
            </a:r>
            <a:pPr indent="0" marL="0">
              <a:lnSpc>
                <a:spcPct val="102000"/>
              </a:lnSpc>
              <a:buNone/>
            </a:pPr>
            <a:r>
              <a:rPr lang="en-US" sz="4000" b="1" i="1" dirty="0">
                <a:solidFill>
                  <a:srgbClr val="E8A93A"/>
                </a:solidFill>
                <a:latin typeface="Century Schoolbook" pitchFamily="34" charset="0"/>
                <a:ea typeface="Century Schoolbook" pitchFamily="34" charset="-122"/>
                <a:cs typeface="Century Schoolbook" pitchFamily="34" charset="-120"/>
              </a:rPr>
              <a:t>Alpha</a:t>
            </a:r>
            <a:pPr indent="0" marL="0">
              <a:lnSpc>
                <a:spcPct val="102000"/>
              </a:lnSpc>
              <a:buNone/>
            </a:pPr>
            <a:r>
              <a:rPr lang="en-US" sz="4000" b="1" dirty="0">
                <a:solidFill>
                  <a:srgbClr val="FFFFFF"/>
                </a:solidFill>
                <a:latin typeface="Century Schoolbook" pitchFamily="34" charset="0"/>
                <a:ea typeface="Century Schoolbook" pitchFamily="34" charset="-122"/>
                <a:cs typeface="Century Schoolbook" pitchFamily="34" charset="-120"/>
              </a:rPr>
              <a:t>?</a:t>
            </a:r>
            <a:endParaRPr lang="en-US" sz="4000" dirty="0"/>
          </a:p>
        </p:txBody>
      </p:sp>
      <p:sp>
        <p:nvSpPr>
          <p:cNvPr id="6" name="Text 4"/>
          <p:cNvSpPr txBox="1"/>
          <p:nvPr/>
        </p:nvSpPr>
        <p:spPr>
          <a:xfrm>
            <a:off x="822960" y="3977640"/>
            <a:ext cx="9875520" cy="731520"/>
          </a:xfrm>
          <a:prstGeom prst="rect">
            <a:avLst/>
          </a:prstGeom>
          <a:noFill/>
          <a:ln/>
        </p:spPr>
        <p:txBody>
          <a:bodyPr wrap="square" lIns="0" tIns="0" rIns="0" bIns="0" rtlCol="0" anchor="ctr"/>
          <a:lstStyle/>
          <a:p>
            <a:pPr indent="0" marL="0">
              <a:lnSpc>
                <a:spcPct val="115000"/>
              </a:lnSpc>
              <a:buNone/>
            </a:pPr>
            <a:r>
              <a:rPr lang="en-US" sz="1600" dirty="0">
                <a:solidFill>
                  <a:srgbClr val="CADCFC"/>
                </a:solidFill>
                <a:latin typeface="Calibri" pitchFamily="34" charset="0"/>
                <a:ea typeface="Calibri" pitchFamily="34" charset="-122"/>
                <a:cs typeface="Calibri" pitchFamily="34" charset="-120"/>
              </a:rPr>
              <a:t>Two independent selection hypotheses, tested out-of-sample on 33,522 disclosed trades. Neither survives the market factor.</a:t>
            </a:r>
            <a:endParaRPr lang="en-US" sz="1600" dirty="0"/>
          </a:p>
        </p:txBody>
      </p:sp>
      <p:sp>
        <p:nvSpPr>
          <p:cNvPr id="7" name="Text 5"/>
          <p:cNvSpPr txBox="1"/>
          <p:nvPr/>
        </p:nvSpPr>
        <p:spPr>
          <a:xfrm>
            <a:off x="822960" y="5943600"/>
            <a:ext cx="10515600" cy="365760"/>
          </a:xfrm>
          <a:prstGeom prst="rect">
            <a:avLst/>
          </a:prstGeom>
          <a:noFill/>
          <a:ln/>
        </p:spPr>
        <p:txBody>
          <a:bodyPr wrap="square" lIns="0" tIns="0" rIns="0" bIns="0" rtlCol="0" anchor="ctr"/>
          <a:lstStyle/>
          <a:p>
            <a:pPr indent="0" marL="0">
              <a:buNone/>
            </a:pPr>
            <a:r>
              <a:rPr lang="en-US" sz="1250" i="1" dirty="0">
                <a:solidFill>
                  <a:srgbClr val="5A6B7B"/>
                </a:solidFill>
                <a:latin typeface="Calibri" pitchFamily="34" charset="0"/>
                <a:ea typeface="Calibri" pitchFamily="34" charset="-122"/>
                <a:cs typeface="Calibri" pitchFamily="34" charset="-120"/>
              </a:rPr>
              <a:t>Evaluation 2020-01 → 2024-12  ·  N = 60 months  ·  CAPM &amp; Carhart 4-factor  ·  Newey–West HAC (6 lags)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640080" y="502920"/>
            <a:ext cx="10515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QUESTION</a:t>
            </a:r>
            <a:endParaRPr lang="en-US" sz="1200" dirty="0"/>
          </a:p>
        </p:txBody>
      </p:sp>
      <p:sp>
        <p:nvSpPr>
          <p:cNvPr id="3" name="Text 1"/>
          <p:cNvSpPr txBox="1"/>
          <p:nvPr/>
        </p:nvSpPr>
        <p:spPr>
          <a:xfrm>
            <a:off x="640080" y="868680"/>
            <a:ext cx="10972800" cy="731520"/>
          </a:xfrm>
          <a:prstGeom prst="rect">
            <a:avLst/>
          </a:prstGeom>
          <a:noFill/>
          <a:ln/>
        </p:spPr>
        <p:txBody>
          <a:bodyPr wrap="square" lIns="0" tIns="0" rIns="0" bIns="0" rtlCol="0" anchor="ctr"/>
          <a:lstStyle/>
          <a:p>
            <a:pPr indent="0" marL="0">
              <a:buNone/>
            </a:pPr>
            <a:r>
              <a:rPr lang="en-US" sz="3000" b="1" dirty="0">
                <a:solidFill>
                  <a:srgbClr val="1A2332"/>
                </a:solidFill>
                <a:latin typeface="Century Schoolbook" pitchFamily="34" charset="0"/>
                <a:ea typeface="Century Schoolbook" pitchFamily="34" charset="-122"/>
                <a:cs typeface="Century Schoolbook" pitchFamily="34" charset="-120"/>
              </a:rPr>
              <a:t>Not “did it go up?” — “did it beat the market?”</a:t>
            </a:r>
            <a:endParaRPr lang="en-US" sz="3000" dirty="0"/>
          </a:p>
        </p:txBody>
      </p:sp>
      <p:sp>
        <p:nvSpPr>
          <p:cNvPr id="4" name="Text 2"/>
          <p:cNvSpPr txBox="1"/>
          <p:nvPr/>
        </p:nvSpPr>
        <p:spPr>
          <a:xfrm>
            <a:off x="640080" y="1554480"/>
            <a:ext cx="10881360" cy="914400"/>
          </a:xfrm>
          <a:prstGeom prst="rect">
            <a:avLst/>
          </a:prstGeom>
          <a:noFill/>
          <a:ln/>
        </p:spPr>
        <p:txBody>
          <a:bodyPr wrap="square" lIns="0" tIns="0" rIns="0" bIns="0" rtlCol="0" anchor="ctr"/>
          <a:lstStyle/>
          <a:p>
            <a:pPr indent="0" marL="0">
              <a:lnSpc>
                <a:spcPct val="120000"/>
              </a:lnSpc>
              <a:buNone/>
            </a:pPr>
            <a:r>
              <a:rPr lang="en-US" sz="1550" dirty="0">
                <a:solidFill>
                  <a:srgbClr val="1A2332"/>
                </a:solidFill>
                <a:latin typeface="Calibri" pitchFamily="34" charset="0"/>
                <a:ea typeface="Calibri" pitchFamily="34" charset="-122"/>
                <a:cs typeface="Calibri" pitchFamily="34" charset="-120"/>
              </a:rPr>
              <a:t>Members of Congress must disclose their personal stock trades. In 2020–2024 almost everything went up, so a portfolio rising proves nothing. The question is whether any group earned a return the market factor cannot explain — that is α, and separating it from β is the entire exercise.</a:t>
            </a:r>
            <a:endParaRPr lang="en-US" sz="1550" dirty="0"/>
          </a:p>
        </p:txBody>
      </p:sp>
      <p:sp>
        <p:nvSpPr>
          <p:cNvPr id="5" name="Shape 3"/>
          <p:cNvSpPr/>
          <p:nvPr/>
        </p:nvSpPr>
        <p:spPr>
          <a:xfrm>
            <a:off x="640080" y="2743200"/>
            <a:ext cx="5349240" cy="3017520"/>
          </a:xfrm>
          <a:prstGeom prst="roundRect">
            <a:avLst>
              <a:gd name="adj" fmla="val 2424"/>
            </a:avLst>
          </a:prstGeom>
          <a:solidFill>
            <a:srgbClr val="FFFFFF"/>
          </a:solidFill>
          <a:ln w="12700">
            <a:solidFill>
              <a:srgbClr val="D8DEE4"/>
            </a:solidFill>
            <a:prstDash val="solid"/>
          </a:ln>
          <a:effectLst>
            <a:outerShdw sx="100000" sy="100000" kx="0" ky="0" algn="bl" rotWithShape="0" blurRad="88900" dist="25400" dir="5400000">
              <a:srgbClr val="BBBBBB">
                <a:alpha val="35000"/>
              </a:srgbClr>
            </a:outerShdw>
          </a:effectLst>
        </p:spPr>
      </p:sp>
      <p:sp>
        <p:nvSpPr>
          <p:cNvPr id="6" name="Shape 4"/>
          <p:cNvSpPr/>
          <p:nvPr/>
        </p:nvSpPr>
        <p:spPr>
          <a:xfrm>
            <a:off x="640080" y="2743200"/>
            <a:ext cx="109728" cy="3017520"/>
          </a:xfrm>
          <a:prstGeom prst="rect">
            <a:avLst/>
          </a:prstGeom>
          <a:solidFill>
            <a:srgbClr val="1C7293"/>
          </a:solidFill>
          <a:ln/>
        </p:spPr>
      </p:sp>
      <p:sp>
        <p:nvSpPr>
          <p:cNvPr id="7" name="Text 5"/>
          <p:cNvSpPr txBox="1"/>
          <p:nvPr/>
        </p:nvSpPr>
        <p:spPr>
          <a:xfrm>
            <a:off x="960120" y="2971800"/>
            <a:ext cx="4572000" cy="320040"/>
          </a:xfrm>
          <a:prstGeom prst="rect">
            <a:avLst/>
          </a:prstGeom>
          <a:noFill/>
          <a:ln/>
        </p:spPr>
        <p:txBody>
          <a:bodyPr wrap="square" lIns="0" tIns="0" rIns="0" bIns="0" rtlCol="0" anchor="ctr"/>
          <a:lstStyle/>
          <a:p>
            <a:pPr indent="0" marL="0">
              <a:buNone/>
            </a:pPr>
            <a:r>
              <a:rPr lang="en-US" sz="1300" b="1" spc="150" kern="0" dirty="0">
                <a:solidFill>
                  <a:srgbClr val="1C7293"/>
                </a:solidFill>
                <a:latin typeface="Calibri" pitchFamily="34" charset="0"/>
                <a:ea typeface="Calibri" pitchFamily="34" charset="-122"/>
                <a:cs typeface="Calibri" pitchFamily="34" charset="-120"/>
              </a:rPr>
              <a:t>TRACK A</a:t>
            </a:r>
            <a:endParaRPr lang="en-US" sz="1300" dirty="0"/>
          </a:p>
        </p:txBody>
      </p:sp>
      <p:sp>
        <p:nvSpPr>
          <p:cNvPr id="8" name="Text 6"/>
          <p:cNvSpPr txBox="1"/>
          <p:nvPr/>
        </p:nvSpPr>
        <p:spPr>
          <a:xfrm>
            <a:off x="960120" y="3291840"/>
            <a:ext cx="4846320" cy="457200"/>
          </a:xfrm>
          <a:prstGeom prst="rect">
            <a:avLst/>
          </a:prstGeom>
          <a:noFill/>
          <a:ln/>
        </p:spPr>
        <p:txBody>
          <a:bodyPr wrap="square" lIns="0" tIns="0" rIns="0" bIns="0" rtlCol="0" anchor="ctr"/>
          <a:lstStyle/>
          <a:p>
            <a:pPr indent="0" marL="0">
              <a:buNone/>
            </a:pPr>
            <a:r>
              <a:rPr lang="en-US" sz="2100" b="1" dirty="0">
                <a:solidFill>
                  <a:srgbClr val="1A2332"/>
                </a:solidFill>
                <a:latin typeface="Century Schoolbook" pitchFamily="34" charset="0"/>
                <a:ea typeface="Century Schoolbook" pitchFamily="34" charset="-122"/>
                <a:cs typeface="Century Schoolbook" pitchFamily="34" charset="-120"/>
              </a:rPr>
              <a:t>Performance selection</a:t>
            </a:r>
            <a:endParaRPr lang="en-US" sz="2100" dirty="0"/>
          </a:p>
        </p:txBody>
      </p:sp>
      <p:sp>
        <p:nvSpPr>
          <p:cNvPr id="9" name="Text 7"/>
          <p:cNvSpPr txBox="1"/>
          <p:nvPr/>
        </p:nvSpPr>
        <p:spPr>
          <a:xfrm>
            <a:off x="960120" y="3886200"/>
            <a:ext cx="4800600" cy="1737360"/>
          </a:xfrm>
          <a:prstGeom prst="rect">
            <a:avLst/>
          </a:prstGeom>
          <a:noFill/>
          <a:ln/>
        </p:spPr>
        <p:txBody>
          <a:bodyPr wrap="square" lIns="0" tIns="0" rIns="0" bIns="0" rtlCol="0" anchor="ctr"/>
          <a:lstStyle/>
          <a:p>
            <a:pPr indent="0" marL="0">
              <a:lnSpc>
                <a:spcPct val="118000"/>
              </a:lnSpc>
              <a:buNone/>
            </a:pPr>
            <a:r>
              <a:rPr lang="en-US" sz="1400" dirty="0">
                <a:solidFill>
                  <a:srgbClr val="5A6B7B"/>
                </a:solidFill>
                <a:latin typeface="Calibri" pitchFamily="34" charset="0"/>
                <a:ea typeface="Calibri" pitchFamily="34" charset="-122"/>
                <a:cs typeface="Calibri" pitchFamily="34" charset="-120"/>
              </a:rPr>
              <a:t>Rank members on trading performance in a formation window (2014–2019); test the top quartile in 2020–2024. Asks whether past winners persist — the difference between skill and luck.</a:t>
            </a:r>
            <a:endParaRPr lang="en-US" sz="1400" dirty="0"/>
          </a:p>
        </p:txBody>
      </p:sp>
      <p:sp>
        <p:nvSpPr>
          <p:cNvPr id="10" name="Shape 8"/>
          <p:cNvSpPr/>
          <p:nvPr/>
        </p:nvSpPr>
        <p:spPr>
          <a:xfrm>
            <a:off x="6172200" y="2743200"/>
            <a:ext cx="5349240" cy="3017520"/>
          </a:xfrm>
          <a:prstGeom prst="roundRect">
            <a:avLst>
              <a:gd name="adj" fmla="val 2424"/>
            </a:avLst>
          </a:prstGeom>
          <a:solidFill>
            <a:srgbClr val="FFFFFF"/>
          </a:solidFill>
          <a:ln w="12700">
            <a:solidFill>
              <a:srgbClr val="D8DEE4"/>
            </a:solidFill>
            <a:prstDash val="solid"/>
          </a:ln>
          <a:effectLst>
            <a:outerShdw sx="100000" sy="100000" kx="0" ky="0" algn="bl" rotWithShape="0" blurRad="88900" dist="25400" dir="5400000">
              <a:srgbClr val="BBBBBB">
                <a:alpha val="35000"/>
              </a:srgbClr>
            </a:outerShdw>
          </a:effectLst>
        </p:spPr>
      </p:sp>
      <p:sp>
        <p:nvSpPr>
          <p:cNvPr id="11" name="Shape 9"/>
          <p:cNvSpPr/>
          <p:nvPr/>
        </p:nvSpPr>
        <p:spPr>
          <a:xfrm>
            <a:off x="6172200" y="2743200"/>
            <a:ext cx="109728" cy="3017520"/>
          </a:xfrm>
          <a:prstGeom prst="rect">
            <a:avLst/>
          </a:prstGeom>
          <a:solidFill>
            <a:srgbClr val="E8A93A"/>
          </a:solidFill>
          <a:ln/>
        </p:spPr>
      </p:sp>
      <p:sp>
        <p:nvSpPr>
          <p:cNvPr id="12" name="Text 10"/>
          <p:cNvSpPr txBox="1"/>
          <p:nvPr/>
        </p:nvSpPr>
        <p:spPr>
          <a:xfrm>
            <a:off x="6492240" y="2971800"/>
            <a:ext cx="4572000" cy="320040"/>
          </a:xfrm>
          <a:prstGeom prst="rect">
            <a:avLst/>
          </a:prstGeom>
          <a:noFill/>
          <a:ln/>
        </p:spPr>
        <p:txBody>
          <a:bodyPr wrap="square" lIns="0" tIns="0" rIns="0" bIns="0" rtlCol="0" anchor="ctr"/>
          <a:lstStyle/>
          <a:p>
            <a:pPr indent="0" marL="0">
              <a:buNone/>
            </a:pPr>
            <a:r>
              <a:rPr lang="en-US" sz="1300" b="1" spc="150" kern="0" dirty="0">
                <a:solidFill>
                  <a:srgbClr val="E8A93A"/>
                </a:solidFill>
                <a:latin typeface="Calibri" pitchFamily="34" charset="0"/>
                <a:ea typeface="Calibri" pitchFamily="34" charset="-122"/>
                <a:cs typeface="Calibri" pitchFamily="34" charset="-120"/>
              </a:rPr>
              <a:t>TRACK B</a:t>
            </a:r>
            <a:endParaRPr lang="en-US" sz="1300" dirty="0"/>
          </a:p>
        </p:txBody>
      </p:sp>
      <p:sp>
        <p:nvSpPr>
          <p:cNvPr id="13" name="Text 11"/>
          <p:cNvSpPr txBox="1"/>
          <p:nvPr/>
        </p:nvSpPr>
        <p:spPr>
          <a:xfrm>
            <a:off x="6492240" y="3291840"/>
            <a:ext cx="4846320" cy="457200"/>
          </a:xfrm>
          <a:prstGeom prst="rect">
            <a:avLst/>
          </a:prstGeom>
          <a:noFill/>
          <a:ln/>
        </p:spPr>
        <p:txBody>
          <a:bodyPr wrap="square" lIns="0" tIns="0" rIns="0" bIns="0" rtlCol="0" anchor="ctr"/>
          <a:lstStyle/>
          <a:p>
            <a:pPr indent="0" marL="0">
              <a:buNone/>
            </a:pPr>
            <a:r>
              <a:rPr lang="en-US" sz="2100" b="1" dirty="0">
                <a:solidFill>
                  <a:srgbClr val="1A2332"/>
                </a:solidFill>
                <a:latin typeface="Century Schoolbook" pitchFamily="34" charset="0"/>
                <a:ea typeface="Century Schoolbook" pitchFamily="34" charset="-122"/>
                <a:cs typeface="Century Schoolbook" pitchFamily="34" charset="-120"/>
              </a:rPr>
              <a:t>Committee oversight</a:t>
            </a:r>
            <a:endParaRPr lang="en-US" sz="2100" dirty="0"/>
          </a:p>
        </p:txBody>
      </p:sp>
      <p:sp>
        <p:nvSpPr>
          <p:cNvPr id="14" name="Text 12"/>
          <p:cNvSpPr txBox="1"/>
          <p:nvPr/>
        </p:nvSpPr>
        <p:spPr>
          <a:xfrm>
            <a:off x="6492240" y="3886200"/>
            <a:ext cx="4800600" cy="1737360"/>
          </a:xfrm>
          <a:prstGeom prst="rect">
            <a:avLst/>
          </a:prstGeom>
          <a:noFill/>
          <a:ln/>
        </p:spPr>
        <p:txBody>
          <a:bodyPr wrap="square" lIns="0" tIns="0" rIns="0" bIns="0" rtlCol="0" anchor="ctr"/>
          <a:lstStyle/>
          <a:p>
            <a:pPr indent="0" marL="0">
              <a:lnSpc>
                <a:spcPct val="118000"/>
              </a:lnSpc>
              <a:buNone/>
            </a:pPr>
            <a:r>
              <a:rPr lang="en-US" sz="1400" dirty="0">
                <a:solidFill>
                  <a:srgbClr val="5A6B7B"/>
                </a:solidFill>
                <a:latin typeface="Calibri" pitchFamily="34" charset="0"/>
                <a:ea typeface="Calibri" pitchFamily="34" charset="-122"/>
                <a:cs typeface="Calibri" pitchFamily="34" charset="-120"/>
              </a:rPr>
              <a:t>Select members by an ex-ante trait — which committee they sat on — and test them only in the sectors that committee regulates. Selection never touches returns, so the group can’t have been chosen for being lucky.</a:t>
            </a:r>
            <a:endParaRPr lang="en-US" sz="1400" dirty="0"/>
          </a:p>
        </p:txBody>
      </p:sp>
      <p:sp>
        <p:nvSpPr>
          <p:cNvPr id="15" name="Text 13"/>
          <p:cNvSpPr txBox="1"/>
          <p:nvPr/>
        </p:nvSpPr>
        <p:spPr>
          <a:xfrm>
            <a:off x="11505895" y="6400800"/>
            <a:ext cx="457200" cy="27432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640080" y="502920"/>
            <a:ext cx="10515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FROM THE THEORY TO THIS STUDY</a:t>
            </a:r>
            <a:endParaRPr lang="en-US" sz="1200" dirty="0"/>
          </a:p>
        </p:txBody>
      </p:sp>
      <p:sp>
        <p:nvSpPr>
          <p:cNvPr id="3" name="Text 1"/>
          <p:cNvSpPr txBox="1"/>
          <p:nvPr/>
        </p:nvSpPr>
        <p:spPr>
          <a:xfrm>
            <a:off x="640080" y="868680"/>
            <a:ext cx="10972800" cy="731520"/>
          </a:xfrm>
          <a:prstGeom prst="rect">
            <a:avLst/>
          </a:prstGeom>
          <a:noFill/>
          <a:ln/>
        </p:spPr>
        <p:txBody>
          <a:bodyPr wrap="square" lIns="0" tIns="0" rIns="0" bIns="0" rtlCol="0" anchor="ctr"/>
          <a:lstStyle/>
          <a:p>
            <a:pPr indent="0" marL="0">
              <a:buNone/>
            </a:pPr>
            <a:r>
              <a:rPr lang="en-US" sz="2600" b="1" dirty="0">
                <a:solidFill>
                  <a:srgbClr val="1A2332"/>
                </a:solidFill>
                <a:latin typeface="Century Schoolbook" pitchFamily="34" charset="0"/>
                <a:ea typeface="Century Schoolbook" pitchFamily="34" charset="-122"/>
                <a:cs typeface="Century Schoolbook" pitchFamily="34" charset="-120"/>
              </a:rPr>
              <a:t>Two groups, dropped onto the Security Market Line</a:t>
            </a:r>
            <a:endParaRPr lang="en-US" sz="2600" dirty="0"/>
          </a:p>
        </p:txBody>
      </p:sp>
      <p:sp>
        <p:nvSpPr>
          <p:cNvPr id="4" name="Text 2"/>
          <p:cNvSpPr txBox="1"/>
          <p:nvPr/>
        </p:nvSpPr>
        <p:spPr>
          <a:xfrm>
            <a:off x="640080" y="1444752"/>
            <a:ext cx="10881360" cy="548640"/>
          </a:xfrm>
          <a:prstGeom prst="rect">
            <a:avLst/>
          </a:prstGeom>
          <a:noFill/>
          <a:ln/>
        </p:spPr>
        <p:txBody>
          <a:bodyPr wrap="square" lIns="0" tIns="0" rIns="0" bIns="0" rtlCol="0" anchor="ctr"/>
          <a:lstStyle/>
          <a:p>
            <a:pPr indent="0" marL="0">
              <a:lnSpc>
                <a:spcPct val="112000"/>
              </a:lnSpc>
              <a:buNone/>
            </a:pPr>
            <a:r>
              <a:rPr lang="en-US" sz="1350" dirty="0">
                <a:solidFill>
                  <a:srgbClr val="5A6B7B"/>
                </a:solidFill>
                <a:latin typeface="Calibri" pitchFamily="34" charset="0"/>
                <a:ea typeface="Calibri" pitchFamily="34" charset="-122"/>
                <a:cs typeface="Calibri" pitchFamily="34" charset="-120"/>
              </a:rPr>
              <a:t>The CAPM predicts every asset sits on the SML — α is the vertical gap. A group with a real edge floats above it. Both of ours sit on it, to the precision the data allows.</a:t>
            </a:r>
            <a:endParaRPr lang="en-US" sz="1350" dirty="0"/>
          </a:p>
        </p:txBody>
      </p:sp>
      <p:sp>
        <p:nvSpPr>
          <p:cNvPr id="5" name="Shape 3"/>
          <p:cNvSpPr/>
          <p:nvPr/>
        </p:nvSpPr>
        <p:spPr>
          <a:xfrm>
            <a:off x="1828800" y="2011680"/>
            <a:ext cx="0" cy="3657600"/>
          </a:xfrm>
          <a:prstGeom prst="line">
            <a:avLst/>
          </a:prstGeom>
          <a:noFill/>
          <a:ln w="15875">
            <a:solidFill>
              <a:srgbClr val="5A6B7B"/>
            </a:solidFill>
            <a:prstDash val="solid"/>
          </a:ln>
        </p:spPr>
      </p:sp>
      <p:sp>
        <p:nvSpPr>
          <p:cNvPr id="6" name="Shape 4"/>
          <p:cNvSpPr/>
          <p:nvPr/>
        </p:nvSpPr>
        <p:spPr>
          <a:xfrm>
            <a:off x="1828800" y="5669280"/>
            <a:ext cx="6172200" cy="0"/>
          </a:xfrm>
          <a:prstGeom prst="line">
            <a:avLst/>
          </a:prstGeom>
          <a:noFill/>
          <a:ln w="15875">
            <a:solidFill>
              <a:srgbClr val="5A6B7B"/>
            </a:solidFill>
            <a:prstDash val="solid"/>
          </a:ln>
        </p:spPr>
      </p:sp>
      <p:sp>
        <p:nvSpPr>
          <p:cNvPr id="7" name="Text 5"/>
          <p:cNvSpPr txBox="1"/>
          <p:nvPr/>
        </p:nvSpPr>
        <p:spPr>
          <a:xfrm rot="16200000">
            <a:off x="822960" y="3108960"/>
            <a:ext cx="2194560" cy="365760"/>
          </a:xfrm>
          <a:prstGeom prst="rect">
            <a:avLst/>
          </a:prstGeom>
          <a:noFill/>
          <a:ln/>
        </p:spPr>
        <p:txBody>
          <a:bodyPr wrap="square" lIns="0" tIns="0" rIns="0" bIns="0" rtlCol="0" anchor="ctr"/>
          <a:lstStyle/>
          <a:p>
            <a:pPr algn="ctr" indent="0" marL="0">
              <a:buNone/>
            </a:pPr>
            <a:r>
              <a:rPr lang="en-US" sz="1100" dirty="0">
                <a:solidFill>
                  <a:srgbClr val="5A6B7B"/>
                </a:solidFill>
                <a:latin typeface="Calibri" pitchFamily="34" charset="0"/>
                <a:ea typeface="Calibri" pitchFamily="34" charset="-122"/>
                <a:cs typeface="Calibri" pitchFamily="34" charset="-120"/>
              </a:rPr>
              <a:t>average return  (% p.a.)</a:t>
            </a:r>
            <a:endParaRPr lang="en-US" sz="1100" dirty="0"/>
          </a:p>
        </p:txBody>
      </p:sp>
      <p:sp>
        <p:nvSpPr>
          <p:cNvPr id="8" name="Text 6"/>
          <p:cNvSpPr txBox="1"/>
          <p:nvPr/>
        </p:nvSpPr>
        <p:spPr>
          <a:xfrm>
            <a:off x="1828800" y="5779008"/>
            <a:ext cx="5943600" cy="274320"/>
          </a:xfrm>
          <a:prstGeom prst="rect">
            <a:avLst/>
          </a:prstGeom>
          <a:noFill/>
          <a:ln/>
        </p:spPr>
        <p:txBody>
          <a:bodyPr wrap="square" lIns="0" tIns="0" rIns="0" bIns="0" rtlCol="0" anchor="ctr"/>
          <a:lstStyle/>
          <a:p>
            <a:pPr algn="ctr" indent="0" marL="0">
              <a:buNone/>
            </a:pPr>
            <a:r>
              <a:rPr lang="en-US" sz="1100" dirty="0">
                <a:solidFill>
                  <a:srgbClr val="5A6B7B"/>
                </a:solidFill>
                <a:latin typeface="Calibri" pitchFamily="34" charset="0"/>
                <a:ea typeface="Calibri" pitchFamily="34" charset="-122"/>
                <a:cs typeface="Calibri" pitchFamily="34" charset="-120"/>
              </a:rPr>
              <a:t>β  (market sensitivity)</a:t>
            </a:r>
            <a:endParaRPr lang="en-US" sz="1100" dirty="0"/>
          </a:p>
        </p:txBody>
      </p:sp>
      <p:sp>
        <p:nvSpPr>
          <p:cNvPr id="9" name="Shape 7"/>
          <p:cNvSpPr/>
          <p:nvPr/>
        </p:nvSpPr>
        <p:spPr>
          <a:xfrm flipV="1">
            <a:off x="1828800" y="3108960"/>
            <a:ext cx="5731329" cy="2278966"/>
          </a:xfrm>
          <a:prstGeom prst="line">
            <a:avLst/>
          </a:prstGeom>
          <a:noFill/>
          <a:ln w="31750">
            <a:solidFill>
              <a:srgbClr val="E2574C"/>
            </a:solidFill>
            <a:prstDash val="solid"/>
          </a:ln>
        </p:spPr>
      </p:sp>
      <p:sp>
        <p:nvSpPr>
          <p:cNvPr id="10" name="Text 8"/>
          <p:cNvSpPr txBox="1"/>
          <p:nvPr/>
        </p:nvSpPr>
        <p:spPr>
          <a:xfrm>
            <a:off x="7011489" y="2788920"/>
            <a:ext cx="822960" cy="274320"/>
          </a:xfrm>
          <a:prstGeom prst="rect">
            <a:avLst/>
          </a:prstGeom>
          <a:noFill/>
          <a:ln/>
        </p:spPr>
        <p:txBody>
          <a:bodyPr wrap="square" lIns="0" tIns="0" rIns="0" bIns="0" rtlCol="0" anchor="ctr"/>
          <a:lstStyle/>
          <a:p>
            <a:pPr indent="0" marL="0">
              <a:buNone/>
            </a:pPr>
            <a:r>
              <a:rPr lang="en-US" sz="1300" b="1" dirty="0">
                <a:solidFill>
                  <a:srgbClr val="E2574C"/>
                </a:solidFill>
                <a:latin typeface="Calibri" pitchFamily="34" charset="0"/>
                <a:ea typeface="Calibri" pitchFamily="34" charset="-122"/>
                <a:cs typeface="Calibri" pitchFamily="34" charset="-120"/>
              </a:rPr>
              <a:t>SML</a:t>
            </a:r>
            <a:endParaRPr lang="en-US" sz="1300" dirty="0"/>
          </a:p>
        </p:txBody>
      </p:sp>
      <p:sp>
        <p:nvSpPr>
          <p:cNvPr id="11" name="Text 9"/>
          <p:cNvSpPr txBox="1"/>
          <p:nvPr/>
        </p:nvSpPr>
        <p:spPr>
          <a:xfrm>
            <a:off x="2148840" y="2148840"/>
            <a:ext cx="3017520" cy="256032"/>
          </a:xfrm>
          <a:prstGeom prst="rect">
            <a:avLst/>
          </a:prstGeom>
          <a:noFill/>
          <a:ln/>
        </p:spPr>
        <p:txBody>
          <a:bodyPr wrap="square" lIns="0" tIns="0" rIns="0" bIns="0" rtlCol="0" anchor="ctr"/>
          <a:lstStyle/>
          <a:p>
            <a:pPr indent="0" marL="0">
              <a:buNone/>
            </a:pPr>
            <a:r>
              <a:rPr lang="en-US" sz="1050" i="1" dirty="0">
                <a:solidFill>
                  <a:srgbClr val="5A6B7B"/>
                </a:solidFill>
                <a:latin typeface="Calibri" pitchFamily="34" charset="0"/>
                <a:ea typeface="Calibri" pitchFamily="34" charset="-122"/>
                <a:cs typeface="Calibri" pitchFamily="34" charset="-120"/>
              </a:rPr>
              <a:t>above the line = positive α</a:t>
            </a:r>
            <a:endParaRPr lang="en-US" sz="1050" dirty="0"/>
          </a:p>
        </p:txBody>
      </p:sp>
      <p:sp>
        <p:nvSpPr>
          <p:cNvPr id="12" name="Shape 10"/>
          <p:cNvSpPr/>
          <p:nvPr/>
        </p:nvSpPr>
        <p:spPr>
          <a:xfrm>
            <a:off x="1764792" y="5323918"/>
            <a:ext cx="128016" cy="128016"/>
          </a:xfrm>
          <a:prstGeom prst="ellipse">
            <a:avLst/>
          </a:prstGeom>
          <a:solidFill>
            <a:srgbClr val="E2574C"/>
          </a:solidFill>
          <a:ln/>
        </p:spPr>
      </p:sp>
      <p:sp>
        <p:nvSpPr>
          <p:cNvPr id="13" name="Text 11"/>
          <p:cNvSpPr txBox="1"/>
          <p:nvPr/>
        </p:nvSpPr>
        <p:spPr>
          <a:xfrm>
            <a:off x="1444752" y="5369638"/>
            <a:ext cx="274320" cy="228600"/>
          </a:xfrm>
          <a:prstGeom prst="rect">
            <a:avLst/>
          </a:prstGeom>
          <a:noFill/>
          <a:ln/>
        </p:spPr>
        <p:txBody>
          <a:bodyPr wrap="square" lIns="0" tIns="0" rIns="0" bIns="0" rtlCol="0" anchor="ctr"/>
          <a:lstStyle/>
          <a:p>
            <a:pPr indent="0" marL="0">
              <a:buNone/>
            </a:pPr>
            <a:r>
              <a:rPr lang="en-US" sz="1200" i="1" dirty="0">
                <a:solidFill>
                  <a:srgbClr val="E2574C"/>
                </a:solidFill>
                <a:latin typeface="Calibri" pitchFamily="34" charset="0"/>
                <a:ea typeface="Calibri" pitchFamily="34" charset="-122"/>
                <a:cs typeface="Calibri" pitchFamily="34" charset="-120"/>
              </a:rPr>
              <a:t>R</a:t>
            </a:r>
            <a:endParaRPr lang="en-US" sz="1200" dirty="0"/>
          </a:p>
        </p:txBody>
      </p:sp>
      <p:sp>
        <p:nvSpPr>
          <p:cNvPr id="14" name="Shape 12"/>
          <p:cNvSpPr/>
          <p:nvPr/>
        </p:nvSpPr>
        <p:spPr>
          <a:xfrm>
            <a:off x="5991933" y="3617507"/>
            <a:ext cx="164592" cy="164592"/>
          </a:xfrm>
          <a:prstGeom prst="ellipse">
            <a:avLst/>
          </a:prstGeom>
          <a:solidFill>
            <a:srgbClr val="13294B"/>
          </a:solidFill>
          <a:ln/>
        </p:spPr>
      </p:sp>
      <p:sp>
        <p:nvSpPr>
          <p:cNvPr id="15" name="Text 13"/>
          <p:cNvSpPr txBox="1"/>
          <p:nvPr/>
        </p:nvSpPr>
        <p:spPr>
          <a:xfrm>
            <a:off x="5388429" y="3809531"/>
            <a:ext cx="1371600" cy="256032"/>
          </a:xfrm>
          <a:prstGeom prst="rect">
            <a:avLst/>
          </a:prstGeom>
          <a:noFill/>
          <a:ln/>
        </p:spPr>
        <p:txBody>
          <a:bodyPr wrap="square" lIns="0" tIns="0" rIns="0" bIns="0" rtlCol="0" anchor="ctr"/>
          <a:lstStyle/>
          <a:p>
            <a:pPr algn="ctr" indent="0" marL="0">
              <a:buNone/>
            </a:pPr>
            <a:r>
              <a:rPr lang="en-US" sz="1150" b="1" dirty="0">
                <a:solidFill>
                  <a:srgbClr val="13294B"/>
                </a:solidFill>
                <a:latin typeface="Calibri" pitchFamily="34" charset="0"/>
                <a:ea typeface="Calibri" pitchFamily="34" charset="-122"/>
                <a:cs typeface="Calibri" pitchFamily="34" charset="-120"/>
              </a:rPr>
              <a:t>M · market</a:t>
            </a:r>
            <a:endParaRPr lang="en-US" sz="1150" dirty="0"/>
          </a:p>
        </p:txBody>
      </p:sp>
      <p:sp>
        <p:nvSpPr>
          <p:cNvPr id="16" name="Shape 14"/>
          <p:cNvSpPr/>
          <p:nvPr/>
        </p:nvSpPr>
        <p:spPr>
          <a:xfrm>
            <a:off x="6201591" y="2439338"/>
            <a:ext cx="0" cy="1434905"/>
          </a:xfrm>
          <a:prstGeom prst="line">
            <a:avLst/>
          </a:prstGeom>
          <a:noFill/>
          <a:ln w="22225">
            <a:solidFill>
              <a:srgbClr val="2AA9C7"/>
            </a:solidFill>
            <a:prstDash val="solid"/>
          </a:ln>
        </p:spPr>
      </p:sp>
      <p:sp>
        <p:nvSpPr>
          <p:cNvPr id="17" name="Shape 15"/>
          <p:cNvSpPr/>
          <p:nvPr/>
        </p:nvSpPr>
        <p:spPr>
          <a:xfrm>
            <a:off x="6128439" y="2439338"/>
            <a:ext cx="146304" cy="0"/>
          </a:xfrm>
          <a:prstGeom prst="line">
            <a:avLst/>
          </a:prstGeom>
          <a:noFill/>
          <a:ln w="22225">
            <a:solidFill>
              <a:srgbClr val="2AA9C7"/>
            </a:solidFill>
            <a:prstDash val="solid"/>
          </a:ln>
        </p:spPr>
      </p:sp>
      <p:sp>
        <p:nvSpPr>
          <p:cNvPr id="18" name="Shape 16"/>
          <p:cNvSpPr/>
          <p:nvPr/>
        </p:nvSpPr>
        <p:spPr>
          <a:xfrm>
            <a:off x="6128439" y="3874242"/>
            <a:ext cx="146304" cy="0"/>
          </a:xfrm>
          <a:prstGeom prst="line">
            <a:avLst/>
          </a:prstGeom>
          <a:noFill/>
          <a:ln w="22225">
            <a:solidFill>
              <a:srgbClr val="2AA9C7"/>
            </a:solidFill>
            <a:prstDash val="solid"/>
          </a:ln>
        </p:spPr>
      </p:sp>
      <p:sp>
        <p:nvSpPr>
          <p:cNvPr id="19" name="Shape 17"/>
          <p:cNvSpPr/>
          <p:nvPr/>
        </p:nvSpPr>
        <p:spPr>
          <a:xfrm>
            <a:off x="6119295" y="3075901"/>
            <a:ext cx="164592" cy="164592"/>
          </a:xfrm>
          <a:prstGeom prst="ellipse">
            <a:avLst/>
          </a:prstGeom>
          <a:solidFill>
            <a:srgbClr val="2AA9C7"/>
          </a:solidFill>
          <a:ln w="19050">
            <a:solidFill>
              <a:srgbClr val="FFFFFF"/>
            </a:solidFill>
            <a:prstDash val="solid"/>
          </a:ln>
        </p:spPr>
      </p:sp>
      <p:sp>
        <p:nvSpPr>
          <p:cNvPr id="20" name="Text 18"/>
          <p:cNvSpPr txBox="1"/>
          <p:nvPr/>
        </p:nvSpPr>
        <p:spPr>
          <a:xfrm>
            <a:off x="4784271" y="3011893"/>
            <a:ext cx="1234440" cy="256032"/>
          </a:xfrm>
          <a:prstGeom prst="rect">
            <a:avLst/>
          </a:prstGeom>
          <a:noFill/>
          <a:ln/>
        </p:spPr>
        <p:txBody>
          <a:bodyPr wrap="square" lIns="0" tIns="0" rIns="0" bIns="0" rtlCol="0" anchor="ctr"/>
          <a:lstStyle/>
          <a:p>
            <a:pPr algn="r" indent="0" marL="0">
              <a:buNone/>
            </a:pPr>
            <a:r>
              <a:rPr lang="en-US" sz="1200" b="1" dirty="0">
                <a:solidFill>
                  <a:srgbClr val="1C7293"/>
                </a:solidFill>
                <a:latin typeface="Calibri" pitchFamily="34" charset="0"/>
                <a:ea typeface="Calibri" pitchFamily="34" charset="-122"/>
                <a:cs typeface="Calibri" pitchFamily="34" charset="-120"/>
              </a:rPr>
              <a:t>Track A</a:t>
            </a:r>
            <a:endParaRPr lang="en-US" sz="1200" dirty="0"/>
          </a:p>
        </p:txBody>
      </p:sp>
      <p:sp>
        <p:nvSpPr>
          <p:cNvPr id="21" name="Text 19"/>
          <p:cNvSpPr txBox="1"/>
          <p:nvPr/>
        </p:nvSpPr>
        <p:spPr>
          <a:xfrm>
            <a:off x="4784271" y="3249637"/>
            <a:ext cx="1234440" cy="228600"/>
          </a:xfrm>
          <a:prstGeom prst="rect">
            <a:avLst/>
          </a:prstGeom>
          <a:noFill/>
          <a:ln/>
        </p:spPr>
        <p:txBody>
          <a:bodyPr wrap="square" lIns="0" tIns="0" rIns="0" bIns="0" rtlCol="0" anchor="ctr"/>
          <a:lstStyle/>
          <a:p>
            <a:pPr algn="r" indent="0" marL="0">
              <a:buNone/>
            </a:pPr>
            <a:r>
              <a:rPr lang="en-US" sz="1050" dirty="0">
                <a:solidFill>
                  <a:srgbClr val="5A6B7B"/>
                </a:solidFill>
                <a:latin typeface="Calibri" pitchFamily="34" charset="0"/>
                <a:ea typeface="Calibri" pitchFamily="34" charset="-122"/>
                <a:cs typeface="Calibri" pitchFamily="34" charset="-120"/>
              </a:rPr>
              <a:t>α = +3.49%</a:t>
            </a:r>
            <a:endParaRPr lang="en-US" sz="1050" dirty="0"/>
          </a:p>
        </p:txBody>
      </p:sp>
      <p:sp>
        <p:nvSpPr>
          <p:cNvPr id="22" name="Shape 20"/>
          <p:cNvSpPr/>
          <p:nvPr/>
        </p:nvSpPr>
        <p:spPr>
          <a:xfrm>
            <a:off x="6498771" y="2954215"/>
            <a:ext cx="0" cy="2658794"/>
          </a:xfrm>
          <a:prstGeom prst="line">
            <a:avLst/>
          </a:prstGeom>
          <a:noFill/>
          <a:ln w="22225">
            <a:solidFill>
              <a:srgbClr val="E8A93A"/>
            </a:solidFill>
            <a:prstDash val="solid"/>
          </a:ln>
        </p:spPr>
      </p:sp>
      <p:sp>
        <p:nvSpPr>
          <p:cNvPr id="23" name="Shape 21"/>
          <p:cNvSpPr/>
          <p:nvPr/>
        </p:nvSpPr>
        <p:spPr>
          <a:xfrm>
            <a:off x="6425619" y="2954215"/>
            <a:ext cx="146304" cy="0"/>
          </a:xfrm>
          <a:prstGeom prst="line">
            <a:avLst/>
          </a:prstGeom>
          <a:noFill/>
          <a:ln w="22225">
            <a:solidFill>
              <a:srgbClr val="E8A93A"/>
            </a:solidFill>
            <a:prstDash val="solid"/>
          </a:ln>
        </p:spPr>
      </p:sp>
      <p:sp>
        <p:nvSpPr>
          <p:cNvPr id="24" name="Shape 22"/>
          <p:cNvSpPr/>
          <p:nvPr/>
        </p:nvSpPr>
        <p:spPr>
          <a:xfrm>
            <a:off x="6425619" y="5613009"/>
            <a:ext cx="146304" cy="0"/>
          </a:xfrm>
          <a:prstGeom prst="line">
            <a:avLst/>
          </a:prstGeom>
          <a:noFill/>
          <a:ln w="22225">
            <a:solidFill>
              <a:srgbClr val="E8A93A"/>
            </a:solidFill>
            <a:prstDash val="solid"/>
          </a:ln>
        </p:spPr>
      </p:sp>
      <p:sp>
        <p:nvSpPr>
          <p:cNvPr id="25" name="Shape 23"/>
          <p:cNvSpPr/>
          <p:nvPr/>
        </p:nvSpPr>
        <p:spPr>
          <a:xfrm>
            <a:off x="6416475" y="4199910"/>
            <a:ext cx="164592" cy="164592"/>
          </a:xfrm>
          <a:prstGeom prst="ellipse">
            <a:avLst/>
          </a:prstGeom>
          <a:solidFill>
            <a:srgbClr val="E8A93A"/>
          </a:solidFill>
          <a:ln w="19050">
            <a:solidFill>
              <a:srgbClr val="FFFFFF"/>
            </a:solidFill>
            <a:prstDash val="solid"/>
          </a:ln>
        </p:spPr>
      </p:sp>
      <p:sp>
        <p:nvSpPr>
          <p:cNvPr id="26" name="Text 24"/>
          <p:cNvSpPr txBox="1"/>
          <p:nvPr/>
        </p:nvSpPr>
        <p:spPr>
          <a:xfrm>
            <a:off x="6663363" y="4227342"/>
            <a:ext cx="1371600" cy="256032"/>
          </a:xfrm>
          <a:prstGeom prst="rect">
            <a:avLst/>
          </a:prstGeom>
          <a:noFill/>
          <a:ln/>
        </p:spPr>
        <p:txBody>
          <a:bodyPr wrap="square" lIns="0" tIns="0" rIns="0" bIns="0" rtlCol="0" anchor="ctr"/>
          <a:lstStyle/>
          <a:p>
            <a:pPr indent="0" marL="0">
              <a:buNone/>
            </a:pPr>
            <a:r>
              <a:rPr lang="en-US" sz="1200" b="1" dirty="0">
                <a:solidFill>
                  <a:srgbClr val="9A6E12"/>
                </a:solidFill>
                <a:latin typeface="Calibri" pitchFamily="34" charset="0"/>
                <a:ea typeface="Calibri" pitchFamily="34" charset="-122"/>
                <a:cs typeface="Calibri" pitchFamily="34" charset="-120"/>
              </a:rPr>
              <a:t>Track B</a:t>
            </a:r>
            <a:endParaRPr lang="en-US" sz="1200" dirty="0"/>
          </a:p>
        </p:txBody>
      </p:sp>
      <p:sp>
        <p:nvSpPr>
          <p:cNvPr id="27" name="Text 25"/>
          <p:cNvSpPr txBox="1"/>
          <p:nvPr/>
        </p:nvSpPr>
        <p:spPr>
          <a:xfrm>
            <a:off x="6663363" y="4465086"/>
            <a:ext cx="1371600" cy="2286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α = −5.34%</a:t>
            </a:r>
            <a:endParaRPr lang="en-US" sz="1050" dirty="0"/>
          </a:p>
        </p:txBody>
      </p:sp>
      <p:sp>
        <p:nvSpPr>
          <p:cNvPr id="28" name="Shape 26"/>
          <p:cNvSpPr/>
          <p:nvPr/>
        </p:nvSpPr>
        <p:spPr>
          <a:xfrm>
            <a:off x="8366760" y="2148840"/>
            <a:ext cx="3154680" cy="3200400"/>
          </a:xfrm>
          <a:prstGeom prst="roundRect">
            <a:avLst>
              <a:gd name="adj" fmla="val 2319"/>
            </a:avLst>
          </a:prstGeom>
          <a:solidFill>
            <a:srgbClr val="FFFFFF"/>
          </a:solidFill>
          <a:ln w="12700">
            <a:solidFill>
              <a:srgbClr val="D8DEE4"/>
            </a:solidFill>
            <a:prstDash val="solid"/>
          </a:ln>
        </p:spPr>
      </p:sp>
      <p:sp>
        <p:nvSpPr>
          <p:cNvPr id="29" name="Text 27"/>
          <p:cNvSpPr txBox="1"/>
          <p:nvPr/>
        </p:nvSpPr>
        <p:spPr>
          <a:xfrm>
            <a:off x="8595360" y="2331720"/>
            <a:ext cx="2743200" cy="27432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READING IT</a:t>
            </a:r>
            <a:endParaRPr lang="en-US" sz="1150" dirty="0"/>
          </a:p>
        </p:txBody>
      </p:sp>
      <p:sp>
        <p:nvSpPr>
          <p:cNvPr id="30" name="Shape 28"/>
          <p:cNvSpPr/>
          <p:nvPr/>
        </p:nvSpPr>
        <p:spPr>
          <a:xfrm>
            <a:off x="8595360" y="2697480"/>
            <a:ext cx="109728" cy="109728"/>
          </a:xfrm>
          <a:prstGeom prst="ellipse">
            <a:avLst/>
          </a:prstGeom>
          <a:solidFill>
            <a:srgbClr val="1C7293"/>
          </a:solidFill>
          <a:ln/>
        </p:spPr>
      </p:sp>
      <p:sp>
        <p:nvSpPr>
          <p:cNvPr id="31" name="Text 29"/>
          <p:cNvSpPr txBox="1"/>
          <p:nvPr/>
        </p:nvSpPr>
        <p:spPr>
          <a:xfrm>
            <a:off x="8796528" y="2596896"/>
            <a:ext cx="2606040" cy="457200"/>
          </a:xfrm>
          <a:prstGeom prst="rect">
            <a:avLst/>
          </a:prstGeom>
          <a:noFill/>
          <a:ln/>
        </p:spPr>
        <p:txBody>
          <a:bodyPr wrap="square" lIns="0" tIns="0" rIns="0" bIns="0" rtlCol="0" anchor="ctr"/>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The point estimates are off the line</a:t>
            </a:r>
            <a:endParaRPr lang="en-US" sz="1250" dirty="0"/>
          </a:p>
        </p:txBody>
      </p:sp>
      <p:sp>
        <p:nvSpPr>
          <p:cNvPr id="32" name="Text 30"/>
          <p:cNvSpPr txBox="1"/>
          <p:nvPr/>
        </p:nvSpPr>
        <p:spPr>
          <a:xfrm>
            <a:off x="8796528" y="3035808"/>
            <a:ext cx="2560320" cy="502920"/>
          </a:xfrm>
          <a:prstGeom prst="rect">
            <a:avLst/>
          </a:prstGeom>
          <a:noFill/>
          <a:ln/>
        </p:spPr>
        <p:txBody>
          <a:bodyPr wrap="square" lIns="0" tIns="0" rIns="0" bIns="0" rtlCol="0" anchor="ctr"/>
          <a:lstStyle/>
          <a:p>
            <a:pPr indent="0" marL="0">
              <a:lnSpc>
                <a:spcPct val="110000"/>
              </a:lnSpc>
              <a:buNone/>
            </a:pPr>
            <a:r>
              <a:rPr lang="en-US" sz="1100" dirty="0">
                <a:solidFill>
                  <a:srgbClr val="5A6B7B"/>
                </a:solidFill>
                <a:latin typeface="Calibri" pitchFamily="34" charset="0"/>
                <a:ea typeface="Calibri" pitchFamily="34" charset="-122"/>
                <a:cs typeface="Calibri" pitchFamily="34" charset="-120"/>
              </a:rPr>
              <a:t>A floats above, B sinks below — the raw gaps look real.</a:t>
            </a:r>
            <a:endParaRPr lang="en-US" sz="1100" dirty="0"/>
          </a:p>
        </p:txBody>
      </p:sp>
      <p:sp>
        <p:nvSpPr>
          <p:cNvPr id="33" name="Shape 31"/>
          <p:cNvSpPr/>
          <p:nvPr/>
        </p:nvSpPr>
        <p:spPr>
          <a:xfrm>
            <a:off x="8595360" y="3630168"/>
            <a:ext cx="109728" cy="109728"/>
          </a:xfrm>
          <a:prstGeom prst="ellipse">
            <a:avLst/>
          </a:prstGeom>
          <a:solidFill>
            <a:srgbClr val="1C7293"/>
          </a:solidFill>
          <a:ln/>
        </p:spPr>
      </p:sp>
      <p:sp>
        <p:nvSpPr>
          <p:cNvPr id="34" name="Text 32"/>
          <p:cNvSpPr txBox="1"/>
          <p:nvPr/>
        </p:nvSpPr>
        <p:spPr>
          <a:xfrm>
            <a:off x="8796528" y="3529584"/>
            <a:ext cx="2606040" cy="457200"/>
          </a:xfrm>
          <a:prstGeom prst="rect">
            <a:avLst/>
          </a:prstGeom>
          <a:noFill/>
          <a:ln/>
        </p:spPr>
        <p:txBody>
          <a:bodyPr wrap="square" lIns="0" tIns="0" rIns="0" bIns="0" rtlCol="0" anchor="ctr"/>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But the error bars cross it</a:t>
            </a:r>
            <a:endParaRPr lang="en-US" sz="1250" dirty="0"/>
          </a:p>
        </p:txBody>
      </p:sp>
      <p:sp>
        <p:nvSpPr>
          <p:cNvPr id="35" name="Text 33"/>
          <p:cNvSpPr txBox="1"/>
          <p:nvPr/>
        </p:nvSpPr>
        <p:spPr>
          <a:xfrm>
            <a:off x="8796528" y="3968496"/>
            <a:ext cx="2560320" cy="502920"/>
          </a:xfrm>
          <a:prstGeom prst="rect">
            <a:avLst/>
          </a:prstGeom>
          <a:noFill/>
          <a:ln/>
        </p:spPr>
        <p:txBody>
          <a:bodyPr wrap="square" lIns="0" tIns="0" rIns="0" bIns="0" rtlCol="0" anchor="ctr"/>
          <a:lstStyle/>
          <a:p>
            <a:pPr indent="0" marL="0">
              <a:lnSpc>
                <a:spcPct val="110000"/>
              </a:lnSpc>
              <a:buNone/>
            </a:pPr>
            <a:r>
              <a:rPr lang="en-US" sz="1100" dirty="0">
                <a:solidFill>
                  <a:srgbClr val="5A6B7B"/>
                </a:solidFill>
                <a:latin typeface="Calibri" pitchFamily="34" charset="0"/>
                <a:ea typeface="Calibri" pitchFamily="34" charset="-122"/>
                <a:cs typeface="Calibri" pitchFamily="34" charset="-120"/>
              </a:rPr>
              <a:t>Each 95% CI straddles the SML. The gap is inside the noise.</a:t>
            </a:r>
            <a:endParaRPr lang="en-US" sz="1100" dirty="0"/>
          </a:p>
        </p:txBody>
      </p:sp>
      <p:sp>
        <p:nvSpPr>
          <p:cNvPr id="36" name="Shape 34"/>
          <p:cNvSpPr/>
          <p:nvPr/>
        </p:nvSpPr>
        <p:spPr>
          <a:xfrm>
            <a:off x="8595360" y="4562856"/>
            <a:ext cx="109728" cy="109728"/>
          </a:xfrm>
          <a:prstGeom prst="ellipse">
            <a:avLst/>
          </a:prstGeom>
          <a:solidFill>
            <a:srgbClr val="E2574C"/>
          </a:solidFill>
          <a:ln/>
        </p:spPr>
      </p:sp>
      <p:sp>
        <p:nvSpPr>
          <p:cNvPr id="37" name="Text 35"/>
          <p:cNvSpPr txBox="1"/>
          <p:nvPr/>
        </p:nvSpPr>
        <p:spPr>
          <a:xfrm>
            <a:off x="8796528" y="4462272"/>
            <a:ext cx="2606040" cy="457200"/>
          </a:xfrm>
          <a:prstGeom prst="rect">
            <a:avLst/>
          </a:prstGeom>
          <a:noFill/>
          <a:ln/>
        </p:spPr>
        <p:txBody>
          <a:bodyPr wrap="square" lIns="0" tIns="0" rIns="0" bIns="0" rtlCol="0" anchor="ctr"/>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So both sit ON the line</a:t>
            </a:r>
            <a:endParaRPr lang="en-US" sz="1250" dirty="0"/>
          </a:p>
        </p:txBody>
      </p:sp>
      <p:sp>
        <p:nvSpPr>
          <p:cNvPr id="38" name="Text 36"/>
          <p:cNvSpPr txBox="1"/>
          <p:nvPr/>
        </p:nvSpPr>
        <p:spPr>
          <a:xfrm>
            <a:off x="8796528" y="4901184"/>
            <a:ext cx="2560320" cy="502920"/>
          </a:xfrm>
          <a:prstGeom prst="rect">
            <a:avLst/>
          </a:prstGeom>
          <a:noFill/>
          <a:ln/>
        </p:spPr>
        <p:txBody>
          <a:bodyPr wrap="square" lIns="0" tIns="0" rIns="0" bIns="0" rtlCol="0" anchor="ctr"/>
          <a:lstStyle/>
          <a:p>
            <a:pPr indent="0" marL="0">
              <a:lnSpc>
                <a:spcPct val="110000"/>
              </a:lnSpc>
              <a:buNone/>
            </a:pPr>
            <a:r>
              <a:rPr lang="en-US" sz="1100" dirty="0">
                <a:solidFill>
                  <a:srgbClr val="5A6B7B"/>
                </a:solidFill>
                <a:latin typeface="Calibri" pitchFamily="34" charset="0"/>
                <a:ea typeface="Calibri" pitchFamily="34" charset="-122"/>
                <a:cs typeface="Calibri" pitchFamily="34" charset="-120"/>
              </a:rPr>
              <a:t>To the precision this data supports, α is indistinguishable from zero.</a:t>
            </a:r>
            <a:endParaRPr lang="en-US" sz="1100" dirty="0"/>
          </a:p>
        </p:txBody>
      </p:sp>
      <p:sp>
        <p:nvSpPr>
          <p:cNvPr id="39" name="Text 37"/>
          <p:cNvSpPr txBox="1"/>
          <p:nvPr/>
        </p:nvSpPr>
        <p:spPr>
          <a:xfrm>
            <a:off x="640080" y="5989320"/>
            <a:ext cx="10881360" cy="365760"/>
          </a:xfrm>
          <a:prstGeom prst="rect">
            <a:avLst/>
          </a:prstGeom>
          <a:noFill/>
          <a:ln/>
        </p:spPr>
        <p:txBody>
          <a:bodyPr wrap="square" lIns="0" tIns="0" rIns="0" bIns="0" rtlCol="0" anchor="ctr"/>
          <a:lstStyle/>
          <a:p>
            <a:pPr indent="0" marL="0">
              <a:buNone/>
            </a:pPr>
            <a:r>
              <a:rPr lang="en-US" sz="1000" i="1" dirty="0">
                <a:solidFill>
                  <a:srgbClr val="5A6B7B"/>
                </a:solidFill>
                <a:latin typeface="Calibri" pitchFamily="34" charset="0"/>
                <a:ea typeface="Calibri" pitchFamily="34" charset="-122"/>
                <a:cs typeface="Calibri" pitchFamily="34" charset="-120"/>
              </a:rPr>
              <a:t>Axis scale is schematic; R_f and the market premium are illustrative. The plotted α gaps and their 95% CIs are the estimated values.</a:t>
            </a:r>
            <a:endParaRPr lang="en-US" sz="1000" dirty="0"/>
          </a:p>
        </p:txBody>
      </p:sp>
      <p:sp>
        <p:nvSpPr>
          <p:cNvPr id="40" name="Text 38"/>
          <p:cNvSpPr txBox="1"/>
          <p:nvPr/>
        </p:nvSpPr>
        <p:spPr>
          <a:xfrm>
            <a:off x="11505895" y="6400800"/>
            <a:ext cx="457200" cy="27432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640080" y="502920"/>
            <a:ext cx="10515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HOW THE TEST AVOIDS FOOLING ITSELF</a:t>
            </a:r>
            <a:endParaRPr lang="en-US" sz="1200" dirty="0"/>
          </a:p>
        </p:txBody>
      </p:sp>
      <p:sp>
        <p:nvSpPr>
          <p:cNvPr id="3" name="Text 1"/>
          <p:cNvSpPr txBox="1"/>
          <p:nvPr/>
        </p:nvSpPr>
        <p:spPr>
          <a:xfrm>
            <a:off x="640080" y="868680"/>
            <a:ext cx="10972800" cy="731520"/>
          </a:xfrm>
          <a:prstGeom prst="rect">
            <a:avLst/>
          </a:prstGeom>
          <a:noFill/>
          <a:ln/>
        </p:spPr>
        <p:txBody>
          <a:bodyPr wrap="square" lIns="0" tIns="0" rIns="0" bIns="0" rtlCol="0" anchor="ctr"/>
          <a:lstStyle/>
          <a:p>
            <a:pPr indent="0" marL="0">
              <a:buNone/>
            </a:pPr>
            <a:r>
              <a:rPr lang="en-US" sz="3000" b="1" dirty="0">
                <a:solidFill>
                  <a:srgbClr val="1A2332"/>
                </a:solidFill>
                <a:latin typeface="Century Schoolbook" pitchFamily="34" charset="0"/>
                <a:ea typeface="Century Schoolbook" pitchFamily="34" charset="-122"/>
                <a:cs typeface="Century Schoolbook" pitchFamily="34" charset="-120"/>
              </a:rPr>
              <a:t>Four rules — enforced by assertions, not intentions</a:t>
            </a:r>
            <a:endParaRPr lang="en-US" sz="3000" dirty="0"/>
          </a:p>
        </p:txBody>
      </p:sp>
      <p:sp>
        <p:nvSpPr>
          <p:cNvPr id="4" name="Shape 2"/>
          <p:cNvSpPr/>
          <p:nvPr/>
        </p:nvSpPr>
        <p:spPr>
          <a:xfrm>
            <a:off x="640080" y="1783080"/>
            <a:ext cx="5349240" cy="1920240"/>
          </a:xfrm>
          <a:prstGeom prst="roundRect">
            <a:avLst>
              <a:gd name="adj" fmla="val 3333"/>
            </a:avLst>
          </a:prstGeom>
          <a:solidFill>
            <a:srgbClr val="FFFFFF"/>
          </a:solidFill>
          <a:ln w="12700">
            <a:solidFill>
              <a:srgbClr val="D8DEE4"/>
            </a:solidFill>
            <a:prstDash val="solid"/>
          </a:ln>
        </p:spPr>
      </p:sp>
      <p:sp>
        <p:nvSpPr>
          <p:cNvPr id="5" name="Text 3"/>
          <p:cNvSpPr txBox="1"/>
          <p:nvPr/>
        </p:nvSpPr>
        <p:spPr>
          <a:xfrm>
            <a:off x="914400" y="2011680"/>
            <a:ext cx="914400" cy="822960"/>
          </a:xfrm>
          <a:prstGeom prst="rect">
            <a:avLst/>
          </a:prstGeom>
          <a:noFill/>
          <a:ln/>
        </p:spPr>
        <p:txBody>
          <a:bodyPr wrap="square" lIns="0" tIns="0" rIns="0" bIns="0" rtlCol="0" anchor="ctr"/>
          <a:lstStyle/>
          <a:p>
            <a:pPr indent="0" marL="0">
              <a:buNone/>
            </a:pPr>
            <a:r>
              <a:rPr lang="en-US" sz="4000" b="1" dirty="0">
                <a:solidFill>
                  <a:srgbClr val="D8E4EC"/>
                </a:solidFill>
                <a:latin typeface="Century Schoolbook" pitchFamily="34" charset="0"/>
                <a:ea typeface="Century Schoolbook" pitchFamily="34" charset="-122"/>
                <a:cs typeface="Century Schoolbook" pitchFamily="34" charset="-120"/>
              </a:rPr>
              <a:t>01</a:t>
            </a:r>
            <a:endParaRPr lang="en-US" sz="4000" dirty="0"/>
          </a:p>
        </p:txBody>
      </p:sp>
      <p:sp>
        <p:nvSpPr>
          <p:cNvPr id="6" name="Text 4"/>
          <p:cNvSpPr txBox="1"/>
          <p:nvPr/>
        </p:nvSpPr>
        <p:spPr>
          <a:xfrm>
            <a:off x="1783080" y="2039112"/>
            <a:ext cx="3977640" cy="548640"/>
          </a:xfrm>
          <a:prstGeom prst="rect">
            <a:avLst/>
          </a:prstGeom>
          <a:noFill/>
          <a:ln/>
        </p:spPr>
        <p:txBody>
          <a:bodyPr wrap="square" lIns="0" tIns="0" rIns="0" bIns="0" rtlCol="0" anchor="ctr"/>
          <a:lstStyle/>
          <a:p>
            <a:pPr indent="0" marL="0">
              <a:lnSpc>
                <a:spcPct val="100000"/>
              </a:lnSpc>
              <a:buNone/>
            </a:pPr>
            <a:r>
              <a:rPr lang="en-US" sz="1550" b="1" dirty="0">
                <a:solidFill>
                  <a:srgbClr val="1C7293"/>
                </a:solidFill>
                <a:latin typeface="Calibri" pitchFamily="34" charset="0"/>
                <a:ea typeface="Calibri" pitchFamily="34" charset="-122"/>
                <a:cs typeface="Calibri" pitchFamily="34" charset="-120"/>
              </a:rPr>
              <a:t>Enter on the disclosure date</a:t>
            </a:r>
            <a:endParaRPr lang="en-US" sz="1550" dirty="0"/>
          </a:p>
        </p:txBody>
      </p:sp>
      <p:sp>
        <p:nvSpPr>
          <p:cNvPr id="7" name="Text 5"/>
          <p:cNvSpPr txBox="1"/>
          <p:nvPr/>
        </p:nvSpPr>
        <p:spPr>
          <a:xfrm>
            <a:off x="1783080" y="2560320"/>
            <a:ext cx="4023360" cy="1051560"/>
          </a:xfrm>
          <a:prstGeom prst="rect">
            <a:avLst/>
          </a:prstGeom>
          <a:noFill/>
          <a:ln/>
        </p:spPr>
        <p:txBody>
          <a:bodyPr wrap="square" lIns="0" tIns="0" rIns="0" bIns="0" rtlCol="0" anchor="ctr"/>
          <a:lstStyle/>
          <a:p>
            <a:pPr indent="0" marL="0">
              <a:lnSpc>
                <a:spcPct val="112000"/>
              </a:lnSpc>
              <a:buNone/>
            </a:pPr>
            <a:r>
              <a:rPr lang="en-US" sz="1200" dirty="0">
                <a:solidFill>
                  <a:srgbClr val="5A6B7B"/>
                </a:solidFill>
                <a:latin typeface="Calibri" pitchFamily="34" charset="0"/>
                <a:ea typeface="Calibri" pitchFamily="34" charset="-122"/>
                <a:cs typeface="Calibri" pitchFamily="34" charset="-120"/>
              </a:rPr>
              <a:t>Filings lag the trade by a median of 29 days (438 at the 95th pct). Trade-date entry would credit a move that was neither public nor investable — the biggest look-ahead trap here.</a:t>
            </a:r>
            <a:endParaRPr lang="en-US" sz="1200" dirty="0"/>
          </a:p>
        </p:txBody>
      </p:sp>
      <p:sp>
        <p:nvSpPr>
          <p:cNvPr id="8" name="Shape 6"/>
          <p:cNvSpPr/>
          <p:nvPr/>
        </p:nvSpPr>
        <p:spPr>
          <a:xfrm>
            <a:off x="6172200" y="1783080"/>
            <a:ext cx="5349240" cy="1920240"/>
          </a:xfrm>
          <a:prstGeom prst="roundRect">
            <a:avLst>
              <a:gd name="adj" fmla="val 3333"/>
            </a:avLst>
          </a:prstGeom>
          <a:solidFill>
            <a:srgbClr val="FFFFFF"/>
          </a:solidFill>
          <a:ln w="12700">
            <a:solidFill>
              <a:srgbClr val="D8DEE4"/>
            </a:solidFill>
            <a:prstDash val="solid"/>
          </a:ln>
        </p:spPr>
      </p:sp>
      <p:sp>
        <p:nvSpPr>
          <p:cNvPr id="9" name="Text 7"/>
          <p:cNvSpPr txBox="1"/>
          <p:nvPr/>
        </p:nvSpPr>
        <p:spPr>
          <a:xfrm>
            <a:off x="6446520" y="2011680"/>
            <a:ext cx="914400" cy="822960"/>
          </a:xfrm>
          <a:prstGeom prst="rect">
            <a:avLst/>
          </a:prstGeom>
          <a:noFill/>
          <a:ln/>
        </p:spPr>
        <p:txBody>
          <a:bodyPr wrap="square" lIns="0" tIns="0" rIns="0" bIns="0" rtlCol="0" anchor="ctr"/>
          <a:lstStyle/>
          <a:p>
            <a:pPr indent="0" marL="0">
              <a:buNone/>
            </a:pPr>
            <a:r>
              <a:rPr lang="en-US" sz="4000" b="1" dirty="0">
                <a:solidFill>
                  <a:srgbClr val="D8E4EC"/>
                </a:solidFill>
                <a:latin typeface="Century Schoolbook" pitchFamily="34" charset="0"/>
                <a:ea typeface="Century Schoolbook" pitchFamily="34" charset="-122"/>
                <a:cs typeface="Century Schoolbook" pitchFamily="34" charset="-120"/>
              </a:rPr>
              <a:t>02</a:t>
            </a:r>
            <a:endParaRPr lang="en-US" sz="4000" dirty="0"/>
          </a:p>
        </p:txBody>
      </p:sp>
      <p:sp>
        <p:nvSpPr>
          <p:cNvPr id="10" name="Text 8"/>
          <p:cNvSpPr txBox="1"/>
          <p:nvPr/>
        </p:nvSpPr>
        <p:spPr>
          <a:xfrm>
            <a:off x="7315200" y="2039112"/>
            <a:ext cx="3977640" cy="548640"/>
          </a:xfrm>
          <a:prstGeom prst="rect">
            <a:avLst/>
          </a:prstGeom>
          <a:noFill/>
          <a:ln/>
        </p:spPr>
        <p:txBody>
          <a:bodyPr wrap="square" lIns="0" tIns="0" rIns="0" bIns="0" rtlCol="0" anchor="ctr"/>
          <a:lstStyle/>
          <a:p>
            <a:pPr indent="0" marL="0">
              <a:lnSpc>
                <a:spcPct val="100000"/>
              </a:lnSpc>
              <a:buNone/>
            </a:pPr>
            <a:r>
              <a:rPr lang="en-US" sz="1550" b="1" dirty="0">
                <a:solidFill>
                  <a:srgbClr val="1C7293"/>
                </a:solidFill>
                <a:latin typeface="Calibri" pitchFamily="34" charset="0"/>
                <a:ea typeface="Calibri" pitchFamily="34" charset="-122"/>
                <a:cs typeface="Calibri" pitchFamily="34" charset="-120"/>
              </a:rPr>
              <a:t>Quarantine selection from evaluation</a:t>
            </a:r>
            <a:endParaRPr lang="en-US" sz="1550" dirty="0"/>
          </a:p>
        </p:txBody>
      </p:sp>
      <p:sp>
        <p:nvSpPr>
          <p:cNvPr id="11" name="Text 9"/>
          <p:cNvSpPr txBox="1"/>
          <p:nvPr/>
        </p:nvSpPr>
        <p:spPr>
          <a:xfrm>
            <a:off x="7315200" y="2560320"/>
            <a:ext cx="4023360" cy="1051560"/>
          </a:xfrm>
          <a:prstGeom prst="rect">
            <a:avLst/>
          </a:prstGeom>
          <a:noFill/>
          <a:ln/>
        </p:spPr>
        <p:txBody>
          <a:bodyPr wrap="square" lIns="0" tIns="0" rIns="0" bIns="0" rtlCol="0" anchor="ctr"/>
          <a:lstStyle/>
          <a:p>
            <a:pPr indent="0" marL="0">
              <a:lnSpc>
                <a:spcPct val="112000"/>
              </a:lnSpc>
              <a:buNone/>
            </a:pPr>
            <a:r>
              <a:rPr lang="en-US" sz="1200" dirty="0">
                <a:solidFill>
                  <a:srgbClr val="5A6B7B"/>
                </a:solidFill>
                <a:latin typeface="Calibri" pitchFamily="34" charset="0"/>
                <a:ea typeface="Calibri" pitchFamily="34" charset="-122"/>
                <a:cs typeface="Calibri" pitchFamily="34" charset="-120"/>
              </a:rPr>
              <a:t>Track A ranks on formation months only; a hard assertion fails the run if an evaluation month leaks in. Validation re-derives the group from formation data and confirms it.</a:t>
            </a:r>
            <a:endParaRPr lang="en-US" sz="1200" dirty="0"/>
          </a:p>
        </p:txBody>
      </p:sp>
      <p:sp>
        <p:nvSpPr>
          <p:cNvPr id="12" name="Shape 10"/>
          <p:cNvSpPr/>
          <p:nvPr/>
        </p:nvSpPr>
        <p:spPr>
          <a:xfrm>
            <a:off x="640080" y="3931920"/>
            <a:ext cx="5349240" cy="1920240"/>
          </a:xfrm>
          <a:prstGeom prst="roundRect">
            <a:avLst>
              <a:gd name="adj" fmla="val 3333"/>
            </a:avLst>
          </a:prstGeom>
          <a:solidFill>
            <a:srgbClr val="FFFFFF"/>
          </a:solidFill>
          <a:ln w="12700">
            <a:solidFill>
              <a:srgbClr val="D8DEE4"/>
            </a:solidFill>
            <a:prstDash val="solid"/>
          </a:ln>
        </p:spPr>
      </p:sp>
      <p:sp>
        <p:nvSpPr>
          <p:cNvPr id="13" name="Text 11"/>
          <p:cNvSpPr txBox="1"/>
          <p:nvPr/>
        </p:nvSpPr>
        <p:spPr>
          <a:xfrm>
            <a:off x="914400" y="4160520"/>
            <a:ext cx="914400" cy="822960"/>
          </a:xfrm>
          <a:prstGeom prst="rect">
            <a:avLst/>
          </a:prstGeom>
          <a:noFill/>
          <a:ln/>
        </p:spPr>
        <p:txBody>
          <a:bodyPr wrap="square" lIns="0" tIns="0" rIns="0" bIns="0" rtlCol="0" anchor="ctr"/>
          <a:lstStyle/>
          <a:p>
            <a:pPr indent="0" marL="0">
              <a:buNone/>
            </a:pPr>
            <a:r>
              <a:rPr lang="en-US" sz="4000" b="1" dirty="0">
                <a:solidFill>
                  <a:srgbClr val="D8E4EC"/>
                </a:solidFill>
                <a:latin typeface="Century Schoolbook" pitchFamily="34" charset="0"/>
                <a:ea typeface="Century Schoolbook" pitchFamily="34" charset="-122"/>
                <a:cs typeface="Century Schoolbook" pitchFamily="34" charset="-120"/>
              </a:rPr>
              <a:t>03</a:t>
            </a:r>
            <a:endParaRPr lang="en-US" sz="4000" dirty="0"/>
          </a:p>
        </p:txBody>
      </p:sp>
      <p:sp>
        <p:nvSpPr>
          <p:cNvPr id="14" name="Text 12"/>
          <p:cNvSpPr txBox="1"/>
          <p:nvPr/>
        </p:nvSpPr>
        <p:spPr>
          <a:xfrm>
            <a:off x="1783080" y="4187952"/>
            <a:ext cx="3977640" cy="548640"/>
          </a:xfrm>
          <a:prstGeom prst="rect">
            <a:avLst/>
          </a:prstGeom>
          <a:noFill/>
          <a:ln/>
        </p:spPr>
        <p:txBody>
          <a:bodyPr wrap="square" lIns="0" tIns="0" rIns="0" bIns="0" rtlCol="0" anchor="ctr"/>
          <a:lstStyle/>
          <a:p>
            <a:pPr indent="0" marL="0">
              <a:lnSpc>
                <a:spcPct val="100000"/>
              </a:lnSpc>
              <a:buNone/>
            </a:pPr>
            <a:r>
              <a:rPr lang="en-US" sz="1550" b="1" dirty="0">
                <a:solidFill>
                  <a:srgbClr val="1C7293"/>
                </a:solidFill>
                <a:latin typeface="Calibri" pitchFamily="34" charset="0"/>
                <a:ea typeface="Calibri" pitchFamily="34" charset="-122"/>
                <a:cs typeface="Calibri" pitchFamily="34" charset="-120"/>
              </a:rPr>
              <a:t>Make the exit carry no information</a:t>
            </a:r>
            <a:endParaRPr lang="en-US" sz="1550" dirty="0"/>
          </a:p>
        </p:txBody>
      </p:sp>
      <p:sp>
        <p:nvSpPr>
          <p:cNvPr id="15" name="Text 13"/>
          <p:cNvSpPr txBox="1"/>
          <p:nvPr/>
        </p:nvSpPr>
        <p:spPr>
          <a:xfrm>
            <a:off x="1783080" y="4709160"/>
            <a:ext cx="4023360" cy="1051560"/>
          </a:xfrm>
          <a:prstGeom prst="rect">
            <a:avLst/>
          </a:prstGeom>
          <a:noFill/>
          <a:ln/>
        </p:spPr>
        <p:txBody>
          <a:bodyPr wrap="square" lIns="0" tIns="0" rIns="0" bIns="0" rtlCol="0" anchor="ctr"/>
          <a:lstStyle/>
          <a:p>
            <a:pPr indent="0" marL="0">
              <a:lnSpc>
                <a:spcPct val="112000"/>
              </a:lnSpc>
              <a:buNone/>
            </a:pPr>
            <a:r>
              <a:rPr lang="en-US" sz="1200" dirty="0">
                <a:solidFill>
                  <a:srgbClr val="5A6B7B"/>
                </a:solidFill>
                <a:latin typeface="Calibri" pitchFamily="34" charset="0"/>
                <a:ea typeface="Calibri" pitchFamily="34" charset="-122"/>
                <a:cs typeface="Calibri" pitchFamily="34" charset="-120"/>
              </a:rPr>
              <a:t>Positions exit exactly 12 months after entry — a fixed function of entry, so it can’t encode what the price did next. Holding to a disclosed sale was rejected: filed late and sparsely.</a:t>
            </a:r>
            <a:endParaRPr lang="en-US" sz="1200" dirty="0"/>
          </a:p>
        </p:txBody>
      </p:sp>
      <p:sp>
        <p:nvSpPr>
          <p:cNvPr id="16" name="Shape 14"/>
          <p:cNvSpPr/>
          <p:nvPr/>
        </p:nvSpPr>
        <p:spPr>
          <a:xfrm>
            <a:off x="6172200" y="3931920"/>
            <a:ext cx="5349240" cy="1920240"/>
          </a:xfrm>
          <a:prstGeom prst="roundRect">
            <a:avLst>
              <a:gd name="adj" fmla="val 3333"/>
            </a:avLst>
          </a:prstGeom>
          <a:solidFill>
            <a:srgbClr val="FFFFFF"/>
          </a:solidFill>
          <a:ln w="12700">
            <a:solidFill>
              <a:srgbClr val="D8DEE4"/>
            </a:solidFill>
            <a:prstDash val="solid"/>
          </a:ln>
        </p:spPr>
      </p:sp>
      <p:sp>
        <p:nvSpPr>
          <p:cNvPr id="17" name="Text 15"/>
          <p:cNvSpPr txBox="1"/>
          <p:nvPr/>
        </p:nvSpPr>
        <p:spPr>
          <a:xfrm>
            <a:off x="6446520" y="4160520"/>
            <a:ext cx="914400" cy="822960"/>
          </a:xfrm>
          <a:prstGeom prst="rect">
            <a:avLst/>
          </a:prstGeom>
          <a:noFill/>
          <a:ln/>
        </p:spPr>
        <p:txBody>
          <a:bodyPr wrap="square" lIns="0" tIns="0" rIns="0" bIns="0" rtlCol="0" anchor="ctr"/>
          <a:lstStyle/>
          <a:p>
            <a:pPr indent="0" marL="0">
              <a:buNone/>
            </a:pPr>
            <a:r>
              <a:rPr lang="en-US" sz="4000" b="1" dirty="0">
                <a:solidFill>
                  <a:srgbClr val="D8E4EC"/>
                </a:solidFill>
                <a:latin typeface="Century Schoolbook" pitchFamily="34" charset="0"/>
                <a:ea typeface="Century Schoolbook" pitchFamily="34" charset="-122"/>
                <a:cs typeface="Century Schoolbook" pitchFamily="34" charset="-120"/>
              </a:rPr>
              <a:t>04</a:t>
            </a:r>
            <a:endParaRPr lang="en-US" sz="4000" dirty="0"/>
          </a:p>
        </p:txBody>
      </p:sp>
      <p:sp>
        <p:nvSpPr>
          <p:cNvPr id="18" name="Text 16"/>
          <p:cNvSpPr txBox="1"/>
          <p:nvPr/>
        </p:nvSpPr>
        <p:spPr>
          <a:xfrm>
            <a:off x="7315200" y="4187952"/>
            <a:ext cx="3977640" cy="548640"/>
          </a:xfrm>
          <a:prstGeom prst="rect">
            <a:avLst/>
          </a:prstGeom>
          <a:noFill/>
          <a:ln/>
        </p:spPr>
        <p:txBody>
          <a:bodyPr wrap="square" lIns="0" tIns="0" rIns="0" bIns="0" rtlCol="0" anchor="ctr"/>
          <a:lstStyle/>
          <a:p>
            <a:pPr indent="0" marL="0">
              <a:lnSpc>
                <a:spcPct val="100000"/>
              </a:lnSpc>
              <a:buNone/>
            </a:pPr>
            <a:r>
              <a:rPr lang="en-US" sz="1550" b="1" dirty="0">
                <a:solidFill>
                  <a:srgbClr val="1C7293"/>
                </a:solidFill>
                <a:latin typeface="Calibri" pitchFamily="34" charset="0"/>
                <a:ea typeface="Calibri" pitchFamily="34" charset="-122"/>
                <a:cs typeface="Calibri" pitchFamily="34" charset="-120"/>
              </a:rPr>
              <a:t>Report every variant</a:t>
            </a:r>
            <a:endParaRPr lang="en-US" sz="1550" dirty="0"/>
          </a:p>
        </p:txBody>
      </p:sp>
      <p:sp>
        <p:nvSpPr>
          <p:cNvPr id="19" name="Text 17"/>
          <p:cNvSpPr txBox="1"/>
          <p:nvPr/>
        </p:nvSpPr>
        <p:spPr>
          <a:xfrm>
            <a:off x="7315200" y="4709160"/>
            <a:ext cx="4023360" cy="1051560"/>
          </a:xfrm>
          <a:prstGeom prst="rect">
            <a:avLst/>
          </a:prstGeom>
          <a:noFill/>
          <a:ln/>
        </p:spPr>
        <p:txBody>
          <a:bodyPr wrap="square" lIns="0" tIns="0" rIns="0" bIns="0" rtlCol="0" anchor="ctr"/>
          <a:lstStyle/>
          <a:p>
            <a:pPr indent="0" marL="0">
              <a:lnSpc>
                <a:spcPct val="112000"/>
              </a:lnSpc>
              <a:buNone/>
            </a:pPr>
            <a:r>
              <a:rPr lang="en-US" sz="1200" dirty="0">
                <a:solidFill>
                  <a:srgbClr val="5A6B7B"/>
                </a:solidFill>
                <a:latin typeface="Calibri" pitchFamily="34" charset="0"/>
                <a:ea typeface="Calibri" pitchFamily="34" charset="-122"/>
                <a:cs typeface="Calibri" pitchFamily="34" charset="-120"/>
              </a:rPr>
              <a:t>Run enough specs and one crosses t = 2 by chance. The defence isn’t fewer specs — it’s showing all 44, so a starred cell reads against the nulls around it.</a:t>
            </a:r>
            <a:endParaRPr lang="en-US" sz="1200" dirty="0"/>
          </a:p>
        </p:txBody>
      </p:sp>
      <p:sp>
        <p:nvSpPr>
          <p:cNvPr id="20" name="Text 18"/>
          <p:cNvSpPr txBox="1"/>
          <p:nvPr/>
        </p:nvSpPr>
        <p:spPr>
          <a:xfrm>
            <a:off x="11505895" y="6400800"/>
            <a:ext cx="457200" cy="27432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9418320" y="-1371600"/>
            <a:ext cx="4389120" cy="4389120"/>
          </a:xfrm>
          <a:prstGeom prst="ellipse">
            <a:avLst/>
          </a:prstGeom>
          <a:solidFill>
            <a:srgbClr val="1B3A5F"/>
          </a:solidFill>
          <a:ln/>
        </p:spPr>
      </p:sp>
      <p:sp>
        <p:nvSpPr>
          <p:cNvPr id="3" name="Text 1"/>
          <p:cNvSpPr txBox="1"/>
          <p:nvPr/>
        </p:nvSpPr>
        <p:spPr>
          <a:xfrm>
            <a:off x="640080" y="502920"/>
            <a:ext cx="10515600" cy="274320"/>
          </a:xfrm>
          <a:prstGeom prst="rect">
            <a:avLst/>
          </a:prstGeom>
          <a:noFill/>
          <a:ln/>
        </p:spPr>
        <p:txBody>
          <a:bodyPr wrap="square" lIns="0" tIns="0" rIns="0" bIns="0" rtlCol="0" anchor="ctr"/>
          <a:lstStyle/>
          <a:p>
            <a:pPr indent="0" marL="0">
              <a:buNone/>
            </a:pPr>
            <a:r>
              <a:rPr lang="en-US" sz="1200" b="1" spc="200" kern="0" dirty="0">
                <a:solidFill>
                  <a:srgbClr val="E8A93A"/>
                </a:solidFill>
                <a:latin typeface="Calibri" pitchFamily="34" charset="0"/>
                <a:ea typeface="Calibri" pitchFamily="34" charset="-122"/>
                <a:cs typeface="Calibri" pitchFamily="34" charset="-120"/>
              </a:rPr>
              <a:t>THE FINDING</a:t>
            </a:r>
            <a:endParaRPr lang="en-US" sz="1200" dirty="0"/>
          </a:p>
        </p:txBody>
      </p:sp>
      <p:sp>
        <p:nvSpPr>
          <p:cNvPr id="4" name="Text 2"/>
          <p:cNvSpPr txBox="1"/>
          <p:nvPr/>
        </p:nvSpPr>
        <p:spPr>
          <a:xfrm>
            <a:off x="640080" y="868680"/>
            <a:ext cx="10972800" cy="731520"/>
          </a:xfrm>
          <a:prstGeom prst="rect">
            <a:avLst/>
          </a:prstGeom>
          <a:noFill/>
          <a:ln/>
        </p:spPr>
        <p:txBody>
          <a:bodyPr wrap="square" lIns="0" tIns="0" rIns="0" bIns="0" rtlCol="0" anchor="ctr"/>
          <a:lstStyle/>
          <a:p>
            <a:pPr indent="0" marL="0">
              <a:buNone/>
            </a:pPr>
            <a:r>
              <a:rPr lang="en-US" sz="3300" b="1" dirty="0">
                <a:solidFill>
                  <a:srgbClr val="FFFFFF"/>
                </a:solidFill>
                <a:latin typeface="Century Schoolbook" pitchFamily="34" charset="0"/>
                <a:ea typeface="Century Schoolbook" pitchFamily="34" charset="-122"/>
                <a:cs typeface="Century Schoolbook" pitchFamily="34" charset="-120"/>
              </a:rPr>
              <a:t>No detectable alpha in either track</a:t>
            </a:r>
            <a:endParaRPr lang="en-US" sz="3300" dirty="0"/>
          </a:p>
        </p:txBody>
      </p:sp>
      <p:sp>
        <p:nvSpPr>
          <p:cNvPr id="5" name="Shape 3"/>
          <p:cNvSpPr/>
          <p:nvPr/>
        </p:nvSpPr>
        <p:spPr>
          <a:xfrm>
            <a:off x="822960" y="1874520"/>
            <a:ext cx="5257800" cy="2240280"/>
          </a:xfrm>
          <a:prstGeom prst="roundRect">
            <a:avLst>
              <a:gd name="adj" fmla="val 4082"/>
            </a:avLst>
          </a:prstGeom>
          <a:solidFill>
            <a:srgbClr val="1B3A5F"/>
          </a:solidFill>
          <a:ln w="12700">
            <a:solidFill>
              <a:srgbClr val="2C4A63"/>
            </a:solidFill>
            <a:prstDash val="solid"/>
          </a:ln>
        </p:spPr>
      </p:sp>
      <p:sp>
        <p:nvSpPr>
          <p:cNvPr id="6" name="Text 4"/>
          <p:cNvSpPr txBox="1"/>
          <p:nvPr/>
        </p:nvSpPr>
        <p:spPr>
          <a:xfrm>
            <a:off x="1143000" y="2057400"/>
            <a:ext cx="4572000" cy="320040"/>
          </a:xfrm>
          <a:prstGeom prst="rect">
            <a:avLst/>
          </a:prstGeom>
          <a:noFill/>
          <a:ln/>
        </p:spPr>
        <p:txBody>
          <a:bodyPr wrap="square" lIns="0" tIns="0" rIns="0" bIns="0" rtlCol="0" anchor="ctr"/>
          <a:lstStyle/>
          <a:p>
            <a:pPr indent="0" marL="0">
              <a:buNone/>
            </a:pPr>
            <a:r>
              <a:rPr lang="en-US" sz="1250" b="1" spc="150" kern="0" dirty="0">
                <a:solidFill>
                  <a:srgbClr val="2AA9C7"/>
                </a:solidFill>
                <a:latin typeface="Calibri" pitchFamily="34" charset="0"/>
                <a:ea typeface="Calibri" pitchFamily="34" charset="-122"/>
                <a:cs typeface="Calibri" pitchFamily="34" charset="-120"/>
              </a:rPr>
              <a:t>TRACK A · performance</a:t>
            </a:r>
            <a:endParaRPr lang="en-US" sz="1250" dirty="0"/>
          </a:p>
        </p:txBody>
      </p:sp>
      <p:sp>
        <p:nvSpPr>
          <p:cNvPr id="7" name="Text 5"/>
          <p:cNvSpPr txBox="1"/>
          <p:nvPr/>
        </p:nvSpPr>
        <p:spPr>
          <a:xfrm>
            <a:off x="1115568" y="2377440"/>
            <a:ext cx="4754880" cy="914400"/>
          </a:xfrm>
          <a:prstGeom prst="rect">
            <a:avLst/>
          </a:prstGeom>
          <a:noFill/>
          <a:ln/>
        </p:spPr>
        <p:txBody>
          <a:bodyPr wrap="square" lIns="0" tIns="0" rIns="0" bIns="0" rtlCol="0" anchor="ctr"/>
          <a:lstStyle/>
          <a:p>
            <a:pPr indent="0" marL="0">
              <a:buNone/>
            </a:pPr>
            <a:r>
              <a:rPr lang="en-US" sz="5200" b="1" dirty="0">
                <a:solidFill>
                  <a:srgbClr val="2AA9C7"/>
                </a:solidFill>
                <a:latin typeface="Century Schoolbook" pitchFamily="34" charset="0"/>
                <a:ea typeface="Century Schoolbook" pitchFamily="34" charset="-122"/>
                <a:cs typeface="Century Schoolbook" pitchFamily="34" charset="-120"/>
              </a:rPr>
              <a:t>+3.49%</a:t>
            </a:r>
            <a:pPr indent="0" marL="0">
              <a:buNone/>
            </a:pPr>
            <a:r>
              <a:rPr lang="en-US" sz="2000" dirty="0">
                <a:solidFill>
                  <a:srgbClr val="CADCFC"/>
                </a:solidFill>
                <a:latin typeface="Calibri" pitchFamily="34" charset="0"/>
                <a:ea typeface="Calibri" pitchFamily="34" charset="-122"/>
                <a:cs typeface="Calibri" pitchFamily="34" charset="-120"/>
              </a:rPr>
              <a:t>/yr</a:t>
            </a:r>
            <a:endParaRPr lang="en-US" sz="5200" dirty="0"/>
          </a:p>
        </p:txBody>
      </p:sp>
      <p:sp>
        <p:nvSpPr>
          <p:cNvPr id="8" name="Text 6"/>
          <p:cNvSpPr txBox="1"/>
          <p:nvPr/>
        </p:nvSpPr>
        <p:spPr>
          <a:xfrm>
            <a:off x="1143000" y="3383280"/>
            <a:ext cx="4663440" cy="3200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 = 1.34   95% CI [−1.6, +8.6]</a:t>
            </a:r>
            <a:endParaRPr lang="en-US" sz="1350" dirty="0"/>
          </a:p>
        </p:txBody>
      </p:sp>
      <p:sp>
        <p:nvSpPr>
          <p:cNvPr id="9" name="Text 7"/>
          <p:cNvSpPr txBox="1"/>
          <p:nvPr/>
        </p:nvSpPr>
        <p:spPr>
          <a:xfrm>
            <a:off x="1143000" y="3703320"/>
            <a:ext cx="4663440" cy="320040"/>
          </a:xfrm>
          <a:prstGeom prst="rect">
            <a:avLst/>
          </a:prstGeom>
          <a:noFill/>
          <a:ln/>
        </p:spPr>
        <p:txBody>
          <a:bodyPr wrap="square" lIns="0" tIns="0" rIns="0" bIns="0" rtlCol="0" anchor="ctr"/>
          <a:lstStyle/>
          <a:p>
            <a:pPr indent="0" marL="0">
              <a:buNone/>
            </a:pPr>
            <a:r>
              <a:rPr lang="en-US" sz="1350" dirty="0">
                <a:solidFill>
                  <a:srgbClr val="9FB8D0"/>
                </a:solidFill>
                <a:latin typeface="Calibri" pitchFamily="34" charset="0"/>
                <a:ea typeface="Calibri" pitchFamily="34" charset="-122"/>
                <a:cs typeface="Calibri" pitchFamily="34" charset="-120"/>
              </a:rPr>
              <a:t>β = 1.03   R² = 0.90</a:t>
            </a:r>
            <a:endParaRPr lang="en-US" sz="1350" dirty="0"/>
          </a:p>
        </p:txBody>
      </p:sp>
      <p:sp>
        <p:nvSpPr>
          <p:cNvPr id="10" name="Shape 8"/>
          <p:cNvSpPr/>
          <p:nvPr/>
        </p:nvSpPr>
        <p:spPr>
          <a:xfrm>
            <a:off x="6263640" y="1874520"/>
            <a:ext cx="5257800" cy="2240280"/>
          </a:xfrm>
          <a:prstGeom prst="roundRect">
            <a:avLst>
              <a:gd name="adj" fmla="val 4082"/>
            </a:avLst>
          </a:prstGeom>
          <a:solidFill>
            <a:srgbClr val="1B3A5F"/>
          </a:solidFill>
          <a:ln w="12700">
            <a:solidFill>
              <a:srgbClr val="2C4A63"/>
            </a:solidFill>
            <a:prstDash val="solid"/>
          </a:ln>
        </p:spPr>
      </p:sp>
      <p:sp>
        <p:nvSpPr>
          <p:cNvPr id="11" name="Text 9"/>
          <p:cNvSpPr txBox="1"/>
          <p:nvPr/>
        </p:nvSpPr>
        <p:spPr>
          <a:xfrm>
            <a:off x="6583680" y="2057400"/>
            <a:ext cx="4572000" cy="320040"/>
          </a:xfrm>
          <a:prstGeom prst="rect">
            <a:avLst/>
          </a:prstGeom>
          <a:noFill/>
          <a:ln/>
        </p:spPr>
        <p:txBody>
          <a:bodyPr wrap="square" lIns="0" tIns="0" rIns="0" bIns="0" rtlCol="0" anchor="ctr"/>
          <a:lstStyle/>
          <a:p>
            <a:pPr indent="0" marL="0">
              <a:buNone/>
            </a:pPr>
            <a:r>
              <a:rPr lang="en-US" sz="1250" b="1" spc="150" kern="0" dirty="0">
                <a:solidFill>
                  <a:srgbClr val="E8A93A"/>
                </a:solidFill>
                <a:latin typeface="Calibri" pitchFamily="34" charset="0"/>
                <a:ea typeface="Calibri" pitchFamily="34" charset="-122"/>
                <a:cs typeface="Calibri" pitchFamily="34" charset="-120"/>
              </a:rPr>
              <a:t>TRACK B · committee</a:t>
            </a:r>
            <a:endParaRPr lang="en-US" sz="1250" dirty="0"/>
          </a:p>
        </p:txBody>
      </p:sp>
      <p:sp>
        <p:nvSpPr>
          <p:cNvPr id="12" name="Text 10"/>
          <p:cNvSpPr txBox="1"/>
          <p:nvPr/>
        </p:nvSpPr>
        <p:spPr>
          <a:xfrm>
            <a:off x="6556248" y="2377440"/>
            <a:ext cx="4754880" cy="914400"/>
          </a:xfrm>
          <a:prstGeom prst="rect">
            <a:avLst/>
          </a:prstGeom>
          <a:noFill/>
          <a:ln/>
        </p:spPr>
        <p:txBody>
          <a:bodyPr wrap="square" lIns="0" tIns="0" rIns="0" bIns="0" rtlCol="0" anchor="ctr"/>
          <a:lstStyle/>
          <a:p>
            <a:pPr indent="0" marL="0">
              <a:buNone/>
            </a:pPr>
            <a:r>
              <a:rPr lang="en-US" sz="5200" b="1" dirty="0">
                <a:solidFill>
                  <a:srgbClr val="E8A93A"/>
                </a:solidFill>
                <a:latin typeface="Century Schoolbook" pitchFamily="34" charset="0"/>
                <a:ea typeface="Century Schoolbook" pitchFamily="34" charset="-122"/>
                <a:cs typeface="Century Schoolbook" pitchFamily="34" charset="-120"/>
              </a:rPr>
              <a:t>−5.34%</a:t>
            </a:r>
            <a:pPr indent="0" marL="0">
              <a:buNone/>
            </a:pPr>
            <a:r>
              <a:rPr lang="en-US" sz="2000" dirty="0">
                <a:solidFill>
                  <a:srgbClr val="CADCFC"/>
                </a:solidFill>
                <a:latin typeface="Calibri" pitchFamily="34" charset="0"/>
                <a:ea typeface="Calibri" pitchFamily="34" charset="-122"/>
                <a:cs typeface="Calibri" pitchFamily="34" charset="-120"/>
              </a:rPr>
              <a:t>/yr</a:t>
            </a:r>
            <a:endParaRPr lang="en-US" sz="5200" dirty="0"/>
          </a:p>
        </p:txBody>
      </p:sp>
      <p:sp>
        <p:nvSpPr>
          <p:cNvPr id="13" name="Text 11"/>
          <p:cNvSpPr txBox="1"/>
          <p:nvPr/>
        </p:nvSpPr>
        <p:spPr>
          <a:xfrm>
            <a:off x="6583680" y="3383280"/>
            <a:ext cx="4663440" cy="3200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 = −1.11   95% CI [−14.8, +4.1]</a:t>
            </a:r>
            <a:endParaRPr lang="en-US" sz="1350" dirty="0"/>
          </a:p>
        </p:txBody>
      </p:sp>
      <p:sp>
        <p:nvSpPr>
          <p:cNvPr id="14" name="Text 12"/>
          <p:cNvSpPr txBox="1"/>
          <p:nvPr/>
        </p:nvSpPr>
        <p:spPr>
          <a:xfrm>
            <a:off x="6583680" y="3703320"/>
            <a:ext cx="4663440" cy="320040"/>
          </a:xfrm>
          <a:prstGeom prst="rect">
            <a:avLst/>
          </a:prstGeom>
          <a:noFill/>
          <a:ln/>
        </p:spPr>
        <p:txBody>
          <a:bodyPr wrap="square" lIns="0" tIns="0" rIns="0" bIns="0" rtlCol="0" anchor="ctr"/>
          <a:lstStyle/>
          <a:p>
            <a:pPr indent="0" marL="0">
              <a:buNone/>
            </a:pPr>
            <a:r>
              <a:rPr lang="en-US" sz="1350" dirty="0">
                <a:solidFill>
                  <a:srgbClr val="9FB8D0"/>
                </a:solidFill>
                <a:latin typeface="Calibri" pitchFamily="34" charset="0"/>
                <a:ea typeface="Calibri" pitchFamily="34" charset="-122"/>
                <a:cs typeface="Calibri" pitchFamily="34" charset="-120"/>
              </a:rPr>
              <a:t>β = 1.10   R² = 0.87</a:t>
            </a:r>
            <a:endParaRPr lang="en-US" sz="1350" dirty="0"/>
          </a:p>
        </p:txBody>
      </p:sp>
      <p:sp>
        <p:nvSpPr>
          <p:cNvPr id="15" name="Shape 13"/>
          <p:cNvSpPr/>
          <p:nvPr/>
        </p:nvSpPr>
        <p:spPr>
          <a:xfrm>
            <a:off x="822960" y="4572000"/>
            <a:ext cx="10515600" cy="1371600"/>
          </a:xfrm>
          <a:prstGeom prst="roundRect">
            <a:avLst>
              <a:gd name="adj" fmla="val 5333"/>
            </a:avLst>
          </a:prstGeom>
          <a:solidFill>
            <a:srgbClr val="1C7293"/>
          </a:solidFill>
          <a:ln/>
        </p:spPr>
      </p:sp>
      <p:sp>
        <p:nvSpPr>
          <p:cNvPr id="16" name="Text 14"/>
          <p:cNvSpPr txBox="1"/>
          <p:nvPr/>
        </p:nvSpPr>
        <p:spPr>
          <a:xfrm>
            <a:off x="1097280" y="4572000"/>
            <a:ext cx="10058400" cy="1371600"/>
          </a:xfrm>
          <a:prstGeom prst="rect">
            <a:avLst/>
          </a:prstGeom>
          <a:noFill/>
          <a:ln/>
        </p:spPr>
        <p:txBody>
          <a:bodyPr wrap="square" lIns="0" tIns="0" rIns="0" bIns="0" rtlCol="0" anchor="ctr"/>
          <a:lstStyle/>
          <a:p>
            <a:pPr algn="ctr" indent="0" marL="0">
              <a:lnSpc>
                <a:spcPct val="110000"/>
              </a:lnSpc>
              <a:buNone/>
            </a:pPr>
            <a:r>
              <a:rPr lang="en-US" sz="1650" b="1" dirty="0">
                <a:solidFill>
                  <a:srgbClr val="FFFFFF"/>
                </a:solidFill>
                <a:latin typeface="Calibri" pitchFamily="34" charset="0"/>
                <a:ea typeface="Calibri" pitchFamily="34" charset="-122"/>
                <a:cs typeface="Calibri" pitchFamily="34" charset="-120"/>
              </a:rPr>
              <a:t>Both load on the market at β ≈ 1, which explains 87–90% of their variance. </a:t>
            </a:r>
            <a:pPr algn="ctr" indent="0" marL="0">
              <a:lnSpc>
                <a:spcPct val="110000"/>
              </a:lnSpc>
              <a:buNone/>
            </a:pPr>
            <a:r>
              <a:rPr lang="en-US" sz="1650" dirty="0">
                <a:solidFill>
                  <a:srgbClr val="E8F4F8"/>
                </a:solidFill>
                <a:latin typeface="Calibri" pitchFamily="34" charset="0"/>
                <a:ea typeface="Calibri" pitchFamily="34" charset="-122"/>
                <a:cs typeface="Calibri" pitchFamily="34" charset="-120"/>
              </a:rPr>
              <a:t>What looks like stock-picking is, to the precision this data supports, market exposure.</a:t>
            </a:r>
            <a:endParaRPr lang="en-US" sz="1650" dirty="0"/>
          </a:p>
        </p:txBody>
      </p:sp>
      <p:sp>
        <p:nvSpPr>
          <p:cNvPr id="17" name="Text 15"/>
          <p:cNvSpPr txBox="1"/>
          <p:nvPr/>
        </p:nvSpPr>
        <p:spPr>
          <a:xfrm>
            <a:off x="11505895" y="6400800"/>
            <a:ext cx="457200" cy="27432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640080" y="502920"/>
            <a:ext cx="10515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TRACK A · DOES PAST PERFORMANCE PERSIST?</a:t>
            </a:r>
            <a:endParaRPr lang="en-US" sz="1200" dirty="0"/>
          </a:p>
        </p:txBody>
      </p:sp>
      <p:sp>
        <p:nvSpPr>
          <p:cNvPr id="3" name="Text 1"/>
          <p:cNvSpPr txBox="1"/>
          <p:nvPr/>
        </p:nvSpPr>
        <p:spPr>
          <a:xfrm>
            <a:off x="640080" y="868680"/>
            <a:ext cx="10972800" cy="731520"/>
          </a:xfrm>
          <a:prstGeom prst="rect">
            <a:avLst/>
          </a:prstGeom>
          <a:noFill/>
          <a:ln/>
        </p:spPr>
        <p:txBody>
          <a:bodyPr wrap="square" lIns="0" tIns="0" rIns="0" bIns="0" rtlCol="0" anchor="ctr"/>
          <a:lstStyle/>
          <a:p>
            <a:pPr indent="0" marL="0">
              <a:buNone/>
            </a:pPr>
            <a:r>
              <a:rPr lang="en-US" sz="2700" b="1" dirty="0">
                <a:solidFill>
                  <a:srgbClr val="1A2332"/>
                </a:solidFill>
                <a:latin typeface="Century Schoolbook" pitchFamily="34" charset="0"/>
                <a:ea typeface="Century Schoolbook" pitchFamily="34" charset="-122"/>
                <a:cs typeface="Century Schoolbook" pitchFamily="34" charset="-120"/>
              </a:rPr>
              <a:t>A positive point estimate that won’t hold still</a:t>
            </a:r>
            <a:endParaRPr lang="en-US" sz="2700" dirty="0"/>
          </a:p>
        </p:txBody>
      </p:sp>
      <p:sp>
        <p:nvSpPr>
          <p:cNvPr id="4" name="Text 2"/>
          <p:cNvSpPr txBox="1"/>
          <p:nvPr/>
        </p:nvSpPr>
        <p:spPr>
          <a:xfrm>
            <a:off x="640080" y="1463040"/>
            <a:ext cx="10881360" cy="777240"/>
          </a:xfrm>
          <a:prstGeom prst="rect">
            <a:avLst/>
          </a:prstGeom>
          <a:noFill/>
          <a:ln/>
        </p:spPr>
        <p:txBody>
          <a:bodyPr wrap="square" lIns="0" tIns="0" rIns="0" bIns="0" rtlCol="0" anchor="ctr"/>
          <a:lstStyle/>
          <a:p>
            <a:pPr indent="0" marL="0">
              <a:lnSpc>
                <a:spcPct val="115000"/>
              </a:lnSpc>
              <a:buNone/>
            </a:pPr>
            <a:r>
              <a:rPr lang="en-US" sz="1350" dirty="0">
                <a:solidFill>
                  <a:srgbClr val="5A6B7B"/>
                </a:solidFill>
                <a:latin typeface="Calibri" pitchFamily="34" charset="0"/>
                <a:ea typeface="Calibri" pitchFamily="34" charset="-122"/>
                <a:cs typeface="Calibri" pitchFamily="34" charset="-120"/>
              </a:rPr>
              <a:t>30 of 259 members cleared the pre-committed floor (≥10 trades, ≥12 invested months); the top quartile is 8 members (5 D, 3 R, all House). They returned 23.9%/yr in formation vs 8.2% for the pool — but that gap is the selection, not a finding. What happened next:</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331720"/>
          <a:ext cx="8961120" cy="914400"/>
        </p:xfrm>
        <a:graphic>
          <a:graphicData uri="http://schemas.openxmlformats.org/drawingml/2006/table">
            <a:tbl>
              <a:tblPr/>
              <a:tblGrid>
                <a:gridCol w="3840480"/>
                <a:gridCol w="1371600"/>
                <a:gridCol w="1371600"/>
                <a:gridCol w="1188720"/>
                <a:gridCol w="1188720"/>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Construction</a:t>
                      </a:r>
                      <a:endParaRPr lang="en-US" sz="13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α %/yr</a:t>
                      </a:r>
                      <a:endParaRPr lang="en-US" sz="13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a:t>
                      </a:r>
                      <a:endParaRPr lang="en-US" sz="13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β</a:t>
                      </a:r>
                      <a:endParaRPr lang="en-US" sz="13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R²</a:t>
                      </a:r>
                      <a:endParaRPr lang="en-US" sz="13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r>
              <a:tr h="384048">
                <a:tc>
                  <a:txBody>
                    <a:bodyPr/>
                    <a:lstStyle/>
                    <a:p>
                      <a:pPr algn="l" indent="0" marL="0">
                        <a:buNone/>
                      </a:pPr>
                      <a:r>
                        <a:rPr lang="en-US" sz="1250" b="1" dirty="0">
                          <a:solidFill>
                            <a:srgbClr val="1A2332"/>
                          </a:solidFill>
                          <a:latin typeface="Calibri" pitchFamily="34" charset="0"/>
                          <a:ea typeface="Calibri" pitchFamily="34" charset="-122"/>
                          <a:cs typeface="Calibri" pitchFamily="34" charset="-120"/>
                        </a:rPr>
                        <a:t>Selected — long-only (CAPM)</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+3.49</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1.34</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1.03</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0.90</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A2332"/>
                          </a:solidFill>
                          <a:latin typeface="Calibri" pitchFamily="34" charset="0"/>
                          <a:ea typeface="Calibri" pitchFamily="34" charset="-122"/>
                          <a:cs typeface="Calibri" pitchFamily="34" charset="-120"/>
                        </a:rPr>
                        <a:t>Selected — long-only (FF4)</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+3.42</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1.56</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1.03</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0.90</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r>
              <a:tr h="384048">
                <a:tc>
                  <a:txBody>
                    <a:bodyPr/>
                    <a:lstStyle/>
                    <a:p>
                      <a:pPr algn="l" indent="0" marL="0">
                        <a:buNone/>
                      </a:pPr>
                      <a:r>
                        <a:rPr lang="en-US" sz="1250" b="1" dirty="0">
                          <a:solidFill>
                            <a:srgbClr val="1A2332"/>
                          </a:solidFill>
                          <a:latin typeface="Calibri" pitchFamily="34" charset="0"/>
                          <a:ea typeface="Calibri" pitchFamily="34" charset="-122"/>
                          <a:cs typeface="Calibri" pitchFamily="34" charset="-120"/>
                        </a:rPr>
                        <a:t>Selected — long–short</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−0.40</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−0.09</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−0.18</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0.09</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A2332"/>
                          </a:solidFill>
                          <a:latin typeface="Calibri" pitchFamily="34" charset="0"/>
                          <a:ea typeface="Calibri" pitchFamily="34" charset="-122"/>
                          <a:cs typeface="Calibri" pitchFamily="34" charset="-120"/>
                        </a:rPr>
                        <a:t>Eligible pool (all 30)</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−1.30</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−0.60</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0.95</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r>
              <a:tr h="384048">
                <a:tc>
                  <a:txBody>
                    <a:bodyPr/>
                    <a:lstStyle/>
                    <a:p>
                      <a:pPr algn="l" indent="0" marL="0">
                        <a:buNone/>
                      </a:pPr>
                      <a:r>
                        <a:rPr lang="en-US" sz="1250" b="1" dirty="0">
                          <a:solidFill>
                            <a:srgbClr val="1A2332"/>
                          </a:solidFill>
                          <a:latin typeface="Calibri" pitchFamily="34" charset="0"/>
                          <a:ea typeface="Calibri" pitchFamily="34" charset="-122"/>
                          <a:cs typeface="Calibri" pitchFamily="34" charset="-120"/>
                        </a:rPr>
                        <a:t>Rejected members (control)</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−3.38</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−1.26</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0.99</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0.92</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A2332"/>
                          </a:solidFill>
                          <a:latin typeface="Calibri" pitchFamily="34" charset="0"/>
                          <a:ea typeface="Calibri" pitchFamily="34" charset="-122"/>
                          <a:cs typeface="Calibri" pitchFamily="34" charset="-120"/>
                        </a:rPr>
                        <a:t>Rejected — long–short</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−5.40</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−2.60***</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−0.11</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0.15</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r>
            </a:tbl>
          </a:graphicData>
        </a:graphic>
      </p:graphicFrame>
      <p:sp>
        <p:nvSpPr>
          <p:cNvPr id="6" name="Shape 3"/>
          <p:cNvSpPr/>
          <p:nvPr/>
        </p:nvSpPr>
        <p:spPr>
          <a:xfrm>
            <a:off x="9829800" y="2331720"/>
            <a:ext cx="1691640" cy="2697480"/>
          </a:xfrm>
          <a:prstGeom prst="roundRect">
            <a:avLst>
              <a:gd name="adj" fmla="val 4324"/>
            </a:avLst>
          </a:prstGeom>
          <a:solidFill>
            <a:srgbClr val="13294B"/>
          </a:solidFill>
          <a:ln/>
        </p:spPr>
      </p:sp>
      <p:sp>
        <p:nvSpPr>
          <p:cNvPr id="7" name="Text 4"/>
          <p:cNvSpPr txBox="1"/>
          <p:nvPr/>
        </p:nvSpPr>
        <p:spPr>
          <a:xfrm>
            <a:off x="9966960" y="2487168"/>
            <a:ext cx="1463040" cy="274320"/>
          </a:xfrm>
          <a:prstGeom prst="rect">
            <a:avLst/>
          </a:prstGeom>
          <a:noFill/>
          <a:ln/>
        </p:spPr>
        <p:txBody>
          <a:bodyPr wrap="square" lIns="0" tIns="0" rIns="0" bIns="0" rtlCol="0" anchor="ctr"/>
          <a:lstStyle/>
          <a:p>
            <a:pPr indent="0" marL="0">
              <a:buNone/>
            </a:pPr>
            <a:r>
              <a:rPr lang="en-US" sz="1050" b="1" spc="100" kern="0" dirty="0">
                <a:solidFill>
                  <a:srgbClr val="E8A93A"/>
                </a:solidFill>
                <a:latin typeface="Calibri" pitchFamily="34" charset="0"/>
                <a:ea typeface="Calibri" pitchFamily="34" charset="-122"/>
                <a:cs typeface="Calibri" pitchFamily="34" charset="-120"/>
              </a:rPr>
              <a:t>SPLIT DATE</a:t>
            </a:r>
            <a:endParaRPr lang="en-US" sz="1050" dirty="0"/>
          </a:p>
        </p:txBody>
      </p:sp>
      <p:sp>
        <p:nvSpPr>
          <p:cNvPr id="8" name="Text 5"/>
          <p:cNvSpPr txBox="1"/>
          <p:nvPr/>
        </p:nvSpPr>
        <p:spPr>
          <a:xfrm>
            <a:off x="9966960" y="2743200"/>
            <a:ext cx="14630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α flips sign</a:t>
            </a:r>
            <a:endParaRPr lang="en-US" sz="1400" dirty="0"/>
          </a:p>
        </p:txBody>
      </p:sp>
      <p:sp>
        <p:nvSpPr>
          <p:cNvPr id="9" name="Text 6"/>
          <p:cNvSpPr txBox="1"/>
          <p:nvPr/>
        </p:nvSpPr>
        <p:spPr>
          <a:xfrm>
            <a:off x="9966960" y="3154680"/>
            <a:ext cx="1463040" cy="228600"/>
          </a:xfrm>
          <a:prstGeom prst="rect">
            <a:avLst/>
          </a:prstGeom>
          <a:noFill/>
          <a:ln/>
        </p:spPr>
        <p:txBody>
          <a:bodyPr wrap="square" lIns="0" tIns="0" rIns="0" bIns="0" rtlCol="0" anchor="ctr"/>
          <a:lstStyle/>
          <a:p>
            <a:pPr indent="0" marL="0">
              <a:buNone/>
            </a:pPr>
            <a:r>
              <a:rPr lang="en-US" sz="1100" dirty="0">
                <a:solidFill>
                  <a:srgbClr val="9FB8D0"/>
                </a:solidFill>
                <a:latin typeface="Calibri" pitchFamily="34" charset="0"/>
                <a:ea typeface="Calibri" pitchFamily="34" charset="-122"/>
                <a:cs typeface="Calibri" pitchFamily="34" charset="-120"/>
              </a:rPr>
              <a:t>Baseline</a:t>
            </a:r>
            <a:endParaRPr lang="en-US" sz="1100" dirty="0"/>
          </a:p>
        </p:txBody>
      </p:sp>
      <p:sp>
        <p:nvSpPr>
          <p:cNvPr id="10" name="Text 7"/>
          <p:cNvSpPr txBox="1"/>
          <p:nvPr/>
        </p:nvSpPr>
        <p:spPr>
          <a:xfrm>
            <a:off x="9966960" y="3337560"/>
            <a:ext cx="1463040" cy="274320"/>
          </a:xfrm>
          <a:prstGeom prst="rect">
            <a:avLst/>
          </a:prstGeom>
          <a:noFill/>
          <a:ln/>
        </p:spPr>
        <p:txBody>
          <a:bodyPr wrap="square" lIns="0" tIns="0" rIns="0" bIns="0" rtlCol="0" anchor="ctr"/>
          <a:lstStyle/>
          <a:p>
            <a:pPr indent="0" marL="0">
              <a:buNone/>
            </a:pPr>
            <a:r>
              <a:rPr lang="en-US" sz="1600" b="1" dirty="0">
                <a:solidFill>
                  <a:srgbClr val="2AA9C7"/>
                </a:solidFill>
                <a:latin typeface="Calibri" pitchFamily="34" charset="0"/>
                <a:ea typeface="Calibri" pitchFamily="34" charset="-122"/>
                <a:cs typeface="Calibri" pitchFamily="34" charset="-120"/>
              </a:rPr>
              <a:t>+3.49%</a:t>
            </a:r>
            <a:endParaRPr lang="en-US" sz="1600" dirty="0"/>
          </a:p>
        </p:txBody>
      </p:sp>
      <p:sp>
        <p:nvSpPr>
          <p:cNvPr id="11" name="Text 8"/>
          <p:cNvSpPr txBox="1"/>
          <p:nvPr/>
        </p:nvSpPr>
        <p:spPr>
          <a:xfrm>
            <a:off x="9966960" y="3721608"/>
            <a:ext cx="1463040" cy="228600"/>
          </a:xfrm>
          <a:prstGeom prst="rect">
            <a:avLst/>
          </a:prstGeom>
          <a:noFill/>
          <a:ln/>
        </p:spPr>
        <p:txBody>
          <a:bodyPr wrap="square" lIns="0" tIns="0" rIns="0" bIns="0" rtlCol="0" anchor="ctr"/>
          <a:lstStyle/>
          <a:p>
            <a:pPr indent="0" marL="0">
              <a:buNone/>
            </a:pPr>
            <a:r>
              <a:rPr lang="en-US" sz="1100" dirty="0">
                <a:solidFill>
                  <a:srgbClr val="9FB8D0"/>
                </a:solidFill>
                <a:latin typeface="Calibri" pitchFamily="34" charset="0"/>
                <a:ea typeface="Calibri" pitchFamily="34" charset="-122"/>
                <a:cs typeface="Calibri" pitchFamily="34" charset="-120"/>
              </a:rPr>
              <a:t>Split A</a:t>
            </a:r>
            <a:endParaRPr lang="en-US" sz="1100" dirty="0"/>
          </a:p>
        </p:txBody>
      </p:sp>
      <p:sp>
        <p:nvSpPr>
          <p:cNvPr id="12" name="Text 9"/>
          <p:cNvSpPr txBox="1"/>
          <p:nvPr/>
        </p:nvSpPr>
        <p:spPr>
          <a:xfrm>
            <a:off x="9966960" y="3904488"/>
            <a:ext cx="1463040" cy="274320"/>
          </a:xfrm>
          <a:prstGeom prst="rect">
            <a:avLst/>
          </a:prstGeom>
          <a:noFill/>
          <a:ln/>
        </p:spPr>
        <p:txBody>
          <a:bodyPr wrap="square" lIns="0" tIns="0" rIns="0" bIns="0" rtlCol="0" anchor="ctr"/>
          <a:lstStyle/>
          <a:p>
            <a:pPr indent="0" marL="0">
              <a:buNone/>
            </a:pPr>
            <a:r>
              <a:rPr lang="en-US" sz="1600" b="1" dirty="0">
                <a:solidFill>
                  <a:srgbClr val="E2574C"/>
                </a:solidFill>
                <a:latin typeface="Calibri" pitchFamily="34" charset="0"/>
                <a:ea typeface="Calibri" pitchFamily="34" charset="-122"/>
                <a:cs typeface="Calibri" pitchFamily="34" charset="-120"/>
              </a:rPr>
              <a:t>−0.77%</a:t>
            </a:r>
            <a:endParaRPr lang="en-US" sz="1600" dirty="0"/>
          </a:p>
        </p:txBody>
      </p:sp>
      <p:sp>
        <p:nvSpPr>
          <p:cNvPr id="13" name="Text 10"/>
          <p:cNvSpPr txBox="1"/>
          <p:nvPr/>
        </p:nvSpPr>
        <p:spPr>
          <a:xfrm>
            <a:off x="9966960" y="4288536"/>
            <a:ext cx="1463040" cy="228600"/>
          </a:xfrm>
          <a:prstGeom prst="rect">
            <a:avLst/>
          </a:prstGeom>
          <a:noFill/>
          <a:ln/>
        </p:spPr>
        <p:txBody>
          <a:bodyPr wrap="square" lIns="0" tIns="0" rIns="0" bIns="0" rtlCol="0" anchor="ctr"/>
          <a:lstStyle/>
          <a:p>
            <a:pPr indent="0" marL="0">
              <a:buNone/>
            </a:pPr>
            <a:r>
              <a:rPr lang="en-US" sz="1100" dirty="0">
                <a:solidFill>
                  <a:srgbClr val="9FB8D0"/>
                </a:solidFill>
                <a:latin typeface="Calibri" pitchFamily="34" charset="0"/>
                <a:ea typeface="Calibri" pitchFamily="34" charset="-122"/>
                <a:cs typeface="Calibri" pitchFamily="34" charset="-120"/>
              </a:rPr>
              <a:t>Split B</a:t>
            </a:r>
            <a:endParaRPr lang="en-US" sz="1100" dirty="0"/>
          </a:p>
        </p:txBody>
      </p:sp>
      <p:sp>
        <p:nvSpPr>
          <p:cNvPr id="14" name="Text 11"/>
          <p:cNvSpPr txBox="1"/>
          <p:nvPr/>
        </p:nvSpPr>
        <p:spPr>
          <a:xfrm>
            <a:off x="9966960" y="4471416"/>
            <a:ext cx="1463040" cy="274320"/>
          </a:xfrm>
          <a:prstGeom prst="rect">
            <a:avLst/>
          </a:prstGeom>
          <a:noFill/>
          <a:ln/>
        </p:spPr>
        <p:txBody>
          <a:bodyPr wrap="square" lIns="0" tIns="0" rIns="0" bIns="0" rtlCol="0" anchor="ctr"/>
          <a:lstStyle/>
          <a:p>
            <a:pPr indent="0" marL="0">
              <a:buNone/>
            </a:pPr>
            <a:r>
              <a:rPr lang="en-US" sz="1600" b="1" dirty="0">
                <a:solidFill>
                  <a:srgbClr val="E2574C"/>
                </a:solidFill>
                <a:latin typeface="Calibri" pitchFamily="34" charset="0"/>
                <a:ea typeface="Calibri" pitchFamily="34" charset="-122"/>
                <a:cs typeface="Calibri" pitchFamily="34" charset="-120"/>
              </a:rPr>
              <a:t>−2.13%</a:t>
            </a:r>
            <a:endParaRPr lang="en-US" sz="1600" dirty="0"/>
          </a:p>
        </p:txBody>
      </p:sp>
      <p:sp>
        <p:nvSpPr>
          <p:cNvPr id="15" name="Shape 12"/>
          <p:cNvSpPr/>
          <p:nvPr/>
        </p:nvSpPr>
        <p:spPr>
          <a:xfrm>
            <a:off x="640080" y="5257800"/>
            <a:ext cx="10881360" cy="914400"/>
          </a:xfrm>
          <a:prstGeom prst="roundRect">
            <a:avLst>
              <a:gd name="adj" fmla="val 6000"/>
            </a:avLst>
          </a:prstGeom>
          <a:solidFill>
            <a:srgbClr val="1B3A5F"/>
          </a:solidFill>
          <a:ln/>
        </p:spPr>
      </p:sp>
      <p:sp>
        <p:nvSpPr>
          <p:cNvPr id="16" name="Text 13"/>
          <p:cNvSpPr txBox="1"/>
          <p:nvPr/>
        </p:nvSpPr>
        <p:spPr>
          <a:xfrm>
            <a:off x="1005840" y="5257800"/>
            <a:ext cx="1014984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control works and the sign flips. </a:t>
            </a:r>
            <a:pPr algn="ctr" indent="0" marL="0">
              <a:buNone/>
            </a:pPr>
            <a:r>
              <a:rPr lang="en-US" sz="1400" dirty="0">
                <a:solidFill>
                  <a:srgbClr val="CADCFC"/>
                </a:solidFill>
                <a:latin typeface="Calibri" pitchFamily="34" charset="0"/>
                <a:ea typeface="Calibri" pitchFamily="34" charset="-122"/>
                <a:cs typeface="Calibri" pitchFamily="34" charset="-120"/>
              </a:rPr>
              <a:t>Rejected members did no better; the positive baseline reverses under other split dates. A real effect doesn’t do that.</a:t>
            </a:r>
            <a:endParaRPr lang="en-US" sz="1400" dirty="0"/>
          </a:p>
        </p:txBody>
      </p:sp>
      <p:sp>
        <p:nvSpPr>
          <p:cNvPr id="17" name="Text 14"/>
          <p:cNvSpPr txBox="1"/>
          <p:nvPr/>
        </p:nvSpPr>
        <p:spPr>
          <a:xfrm>
            <a:off x="11505895" y="6400800"/>
            <a:ext cx="457200" cy="27432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640080" y="502920"/>
            <a:ext cx="10515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TRACK A · THE 8 SELECTED</a:t>
            </a:r>
            <a:endParaRPr lang="en-US" sz="1200" dirty="0"/>
          </a:p>
        </p:txBody>
      </p:sp>
      <p:sp>
        <p:nvSpPr>
          <p:cNvPr id="3" name="Text 1"/>
          <p:cNvSpPr txBox="1"/>
          <p:nvPr/>
        </p:nvSpPr>
        <p:spPr>
          <a:xfrm>
            <a:off x="640080" y="868680"/>
            <a:ext cx="10972800" cy="731520"/>
          </a:xfrm>
          <a:prstGeom prst="rect">
            <a:avLst/>
          </a:prstGeom>
          <a:noFill/>
          <a:ln/>
        </p:spPr>
        <p:txBody>
          <a:bodyPr wrap="square" lIns="0" tIns="0" rIns="0" bIns="0" rtlCol="0" anchor="ctr"/>
          <a:lstStyle/>
          <a:p>
            <a:pPr indent="0" marL="0">
              <a:buNone/>
            </a:pPr>
            <a:r>
              <a:rPr lang="en-US" sz="2700" b="1" dirty="0">
                <a:solidFill>
                  <a:srgbClr val="1A2332"/>
                </a:solidFill>
                <a:latin typeface="Century Schoolbook" pitchFamily="34" charset="0"/>
                <a:ea typeface="Century Schoolbook" pitchFamily="34" charset="-122"/>
                <a:cs typeface="Century Schoolbook" pitchFamily="34" charset="-120"/>
              </a:rPr>
              <a:t>Ranked on the past — the ranking dissolved</a:t>
            </a:r>
            <a:endParaRPr lang="en-US" sz="2700" dirty="0"/>
          </a:p>
        </p:txBody>
      </p:sp>
      <p:sp>
        <p:nvSpPr>
          <p:cNvPr id="4" name="Text 2"/>
          <p:cNvSpPr txBox="1"/>
          <p:nvPr/>
        </p:nvSpPr>
        <p:spPr>
          <a:xfrm>
            <a:off x="640080" y="1444752"/>
            <a:ext cx="10881360" cy="548640"/>
          </a:xfrm>
          <a:prstGeom prst="rect">
            <a:avLst/>
          </a:prstGeom>
          <a:noFill/>
          <a:ln/>
        </p:spPr>
        <p:txBody>
          <a:bodyPr wrap="square" lIns="0" tIns="0" rIns="0" bIns="0" rtlCol="0" anchor="ctr"/>
          <a:lstStyle/>
          <a:p>
            <a:pPr indent="0" marL="0">
              <a:lnSpc>
                <a:spcPct val="112000"/>
              </a:lnSpc>
              <a:buNone/>
            </a:pPr>
            <a:r>
              <a:rPr lang="en-US" sz="1350" dirty="0">
                <a:solidFill>
                  <a:srgbClr val="5A6B7B"/>
                </a:solidFill>
                <a:latin typeface="Calibri" pitchFamily="34" charset="0"/>
                <a:ea typeface="Calibri" pitchFamily="34" charset="-122"/>
                <a:cs typeface="Calibri" pitchFamily="34" charset="-120"/>
              </a:rPr>
              <a:t>Top quartile of the 30-member eligible pool, ranked on 2014–2019 return (all House, 5 D / 3 R). The formation column IS the selection, not a result. What happened next:</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9464040" cy="914400"/>
        </p:xfrm>
        <a:graphic>
          <a:graphicData uri="http://schemas.openxmlformats.org/drawingml/2006/table">
            <a:tbl>
              <a:tblPr/>
              <a:tblGrid>
                <a:gridCol w="502920"/>
                <a:gridCol w="3429000"/>
                <a:gridCol w="1554480"/>
                <a:gridCol w="1371600"/>
                <a:gridCol w="1005840"/>
                <a:gridCol w="1600200"/>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Member</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Formation α</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Eval α</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note</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r>
              <a:tr h="365760">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332"/>
                          </a:solidFill>
                          <a:latin typeface="Calibri" pitchFamily="34" charset="0"/>
                          <a:ea typeface="Calibri" pitchFamily="34" charset="-122"/>
                          <a:cs typeface="Calibri" pitchFamily="34" charset="-120"/>
                        </a:rPr>
                        <a:t>Bradley Schneider (D-IL)</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C7293"/>
                          </a:solidFill>
                          <a:latin typeface="Calibri" pitchFamily="34" charset="0"/>
                          <a:ea typeface="Calibri" pitchFamily="34" charset="-122"/>
                          <a:cs typeface="Calibri" pitchFamily="34" charset="-120"/>
                        </a:rPr>
                        <a:t>+38.2%</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A6B7B"/>
                          </a:solidFill>
                          <a:latin typeface="Calibri" pitchFamily="34" charset="0"/>
                          <a:ea typeface="Calibri" pitchFamily="34" charset="-122"/>
                          <a:cs typeface="Calibri" pitchFamily="34" charset="-120"/>
                        </a:rPr>
                        <a:t>6 eval months</a:t>
                      </a:r>
                      <a:endParaRPr lang="en-US" sz="11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r>
              <a:tr h="365760">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l" indent="0" marL="0">
                        <a:buNone/>
                      </a:pPr>
                      <a:r>
                        <a:rPr lang="en-US" sz="1250" dirty="0">
                          <a:solidFill>
                            <a:srgbClr val="1A2332"/>
                          </a:solidFill>
                          <a:latin typeface="Calibri" pitchFamily="34" charset="0"/>
                          <a:ea typeface="Calibri" pitchFamily="34" charset="-122"/>
                          <a:cs typeface="Calibri" pitchFamily="34" charset="-120"/>
                        </a:rPr>
                        <a:t>Suzan DelBene (D-WA)</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b="1" dirty="0">
                          <a:solidFill>
                            <a:srgbClr val="1C7293"/>
                          </a:solidFill>
                          <a:latin typeface="Calibri" pitchFamily="34" charset="0"/>
                          <a:ea typeface="Calibri" pitchFamily="34" charset="-122"/>
                          <a:cs typeface="Calibri" pitchFamily="34" charset="-120"/>
                        </a:rPr>
                        <a:t>+28.7%</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b="1" dirty="0">
                          <a:solidFill>
                            <a:srgbClr val="1A2332"/>
                          </a:solidFill>
                          <a:latin typeface="Calibri" pitchFamily="34" charset="0"/>
                          <a:ea typeface="Calibri" pitchFamily="34" charset="-122"/>
                          <a:cs typeface="Calibri" pitchFamily="34" charset="-120"/>
                        </a:rPr>
                        <a:t>+11.2%</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1.11</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r>
              <a:tr h="365760">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332"/>
                          </a:solidFill>
                          <a:latin typeface="Calibri" pitchFamily="34" charset="0"/>
                          <a:ea typeface="Calibri" pitchFamily="34" charset="-122"/>
                          <a:cs typeface="Calibri" pitchFamily="34" charset="-120"/>
                        </a:rPr>
                        <a:t>Lamar Smith (R-TX)</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C7293"/>
                          </a:solidFill>
                          <a:latin typeface="Calibri" pitchFamily="34" charset="0"/>
                          <a:ea typeface="Calibri" pitchFamily="34" charset="-122"/>
                          <a:cs typeface="Calibri" pitchFamily="34" charset="-120"/>
                        </a:rPr>
                        <a:t>+27.6%</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A6B7B"/>
                          </a:solidFill>
                          <a:latin typeface="Calibri" pitchFamily="34" charset="0"/>
                          <a:ea typeface="Calibri" pitchFamily="34" charset="-122"/>
                          <a:cs typeface="Calibri" pitchFamily="34" charset="-120"/>
                        </a:rPr>
                        <a:t>left Congress</a:t>
                      </a:r>
                      <a:endParaRPr lang="en-US" sz="11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r>
              <a:tr h="365760">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l" indent="0" marL="0">
                        <a:buNone/>
                      </a:pPr>
                      <a:r>
                        <a:rPr lang="en-US" sz="1250" dirty="0">
                          <a:solidFill>
                            <a:srgbClr val="1A2332"/>
                          </a:solidFill>
                          <a:latin typeface="Calibri" pitchFamily="34" charset="0"/>
                          <a:ea typeface="Calibri" pitchFamily="34" charset="-122"/>
                          <a:cs typeface="Calibri" pitchFamily="34" charset="-120"/>
                        </a:rPr>
                        <a:t>Katherine Clark (D-MA)</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b="1" dirty="0">
                          <a:solidFill>
                            <a:srgbClr val="1C7293"/>
                          </a:solidFill>
                          <a:latin typeface="Calibri" pitchFamily="34" charset="0"/>
                          <a:ea typeface="Calibri" pitchFamily="34" charset="-122"/>
                          <a:cs typeface="Calibri" pitchFamily="34" charset="-120"/>
                        </a:rPr>
                        <a:t>+23.4%</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b="1" dirty="0">
                          <a:solidFill>
                            <a:srgbClr val="1A2332"/>
                          </a:solidFill>
                          <a:latin typeface="Calibri" pitchFamily="34" charset="0"/>
                          <a:ea typeface="Calibri" pitchFamily="34" charset="-122"/>
                          <a:cs typeface="Calibri" pitchFamily="34" charset="-120"/>
                        </a:rPr>
                        <a:t>+0.0%</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0.00</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r>
              <a:tr h="365760">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332"/>
                          </a:solidFill>
                          <a:latin typeface="Calibri" pitchFamily="34" charset="0"/>
                          <a:ea typeface="Calibri" pitchFamily="34" charset="-122"/>
                          <a:cs typeface="Calibri" pitchFamily="34" charset="-120"/>
                        </a:rPr>
                        <a:t>Alan Lowenthal (D-CA)</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C7293"/>
                          </a:solidFill>
                          <a:latin typeface="Calibri" pitchFamily="34" charset="0"/>
                          <a:ea typeface="Calibri" pitchFamily="34" charset="-122"/>
                          <a:cs typeface="Calibri" pitchFamily="34" charset="-120"/>
                        </a:rPr>
                        <a:t>+21.5%</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E2574C"/>
                          </a:solidFill>
                          <a:latin typeface="Calibri" pitchFamily="34" charset="0"/>
                          <a:ea typeface="Calibri" pitchFamily="34" charset="-122"/>
                          <a:cs typeface="Calibri" pitchFamily="34" charset="-120"/>
                        </a:rPr>
                        <a:t>−7.3%</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−1.75</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r>
              <a:tr h="365760">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l" indent="0" marL="0">
                        <a:buNone/>
                      </a:pPr>
                      <a:r>
                        <a:rPr lang="en-US" sz="1250" dirty="0">
                          <a:solidFill>
                            <a:srgbClr val="1A2332"/>
                          </a:solidFill>
                          <a:latin typeface="Calibri" pitchFamily="34" charset="0"/>
                          <a:ea typeface="Calibri" pitchFamily="34" charset="-122"/>
                          <a:cs typeface="Calibri" pitchFamily="34" charset="-120"/>
                        </a:rPr>
                        <a:t>Bob Gibbs (R-OH)</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b="1" dirty="0">
                          <a:solidFill>
                            <a:srgbClr val="1C7293"/>
                          </a:solidFill>
                          <a:latin typeface="Calibri" pitchFamily="34" charset="0"/>
                          <a:ea typeface="Calibri" pitchFamily="34" charset="-122"/>
                          <a:cs typeface="Calibri" pitchFamily="34" charset="-120"/>
                        </a:rPr>
                        <a:t>+18.2%</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b="1" dirty="0">
                          <a:solidFill>
                            <a:srgbClr val="1A2332"/>
                          </a:solidFill>
                          <a:latin typeface="Calibri" pitchFamily="34" charset="0"/>
                          <a:ea typeface="Calibri" pitchFamily="34" charset="-122"/>
                          <a:cs typeface="Calibri" pitchFamily="34" charset="-120"/>
                        </a:rPr>
                        <a:t>+3.2%</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0.44</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r>
              <a:tr h="365760">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332"/>
                          </a:solidFill>
                          <a:latin typeface="Calibri" pitchFamily="34" charset="0"/>
                          <a:ea typeface="Calibri" pitchFamily="34" charset="-122"/>
                          <a:cs typeface="Calibri" pitchFamily="34" charset="-120"/>
                        </a:rPr>
                        <a:t>Pete Sessions (R-TX)</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C7293"/>
                          </a:solidFill>
                          <a:latin typeface="Calibri" pitchFamily="34" charset="0"/>
                          <a:ea typeface="Calibri" pitchFamily="34" charset="-122"/>
                          <a:cs typeface="Calibri" pitchFamily="34" charset="-120"/>
                        </a:rPr>
                        <a:t>+18.1%</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2332"/>
                          </a:solidFill>
                          <a:latin typeface="Calibri" pitchFamily="34" charset="0"/>
                          <a:ea typeface="Calibri" pitchFamily="34" charset="-122"/>
                          <a:cs typeface="Calibri" pitchFamily="34" charset="-120"/>
                        </a:rPr>
                        <a:t>+11.3%</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1.45</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r>
              <a:tr h="365760">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l" indent="0" marL="0">
                        <a:buNone/>
                      </a:pPr>
                      <a:r>
                        <a:rPr lang="en-US" sz="1250" dirty="0">
                          <a:solidFill>
                            <a:srgbClr val="1A2332"/>
                          </a:solidFill>
                          <a:latin typeface="Calibri" pitchFamily="34" charset="0"/>
                          <a:ea typeface="Calibri" pitchFamily="34" charset="-122"/>
                          <a:cs typeface="Calibri" pitchFamily="34" charset="-120"/>
                        </a:rPr>
                        <a:t>Dwight Evans (D-PA)</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b="1" dirty="0">
                          <a:solidFill>
                            <a:srgbClr val="1C7293"/>
                          </a:solidFill>
                          <a:latin typeface="Calibri" pitchFamily="34" charset="0"/>
                          <a:ea typeface="Calibri" pitchFamily="34" charset="-122"/>
                          <a:cs typeface="Calibri" pitchFamily="34" charset="-120"/>
                        </a:rPr>
                        <a:t>+15.7%</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b="1" dirty="0">
                          <a:solidFill>
                            <a:srgbClr val="E2574C"/>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50" dirty="0">
                          <a:solidFill>
                            <a:srgbClr val="1A2332"/>
                          </a:solidFill>
                          <a:latin typeface="Calibri" pitchFamily="34" charset="0"/>
                          <a:ea typeface="Calibri" pitchFamily="34" charset="-122"/>
                          <a:cs typeface="Calibri" pitchFamily="34" charset="-120"/>
                        </a:rPr>
                        <a:t>−0.33</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r>
            </a:tbl>
          </a:graphicData>
        </a:graphic>
      </p:graphicFrame>
      <p:sp>
        <p:nvSpPr>
          <p:cNvPr id="6" name="Shape 3"/>
          <p:cNvSpPr/>
          <p:nvPr/>
        </p:nvSpPr>
        <p:spPr>
          <a:xfrm>
            <a:off x="10241280" y="2148840"/>
            <a:ext cx="1554480" cy="3291840"/>
          </a:xfrm>
          <a:prstGeom prst="roundRect">
            <a:avLst>
              <a:gd name="adj" fmla="val 4706"/>
            </a:avLst>
          </a:prstGeom>
          <a:solidFill>
            <a:srgbClr val="13294B"/>
          </a:solidFill>
          <a:ln/>
        </p:spPr>
      </p:sp>
      <p:sp>
        <p:nvSpPr>
          <p:cNvPr id="7" name="Text 4"/>
          <p:cNvSpPr txBox="1"/>
          <p:nvPr/>
        </p:nvSpPr>
        <p:spPr>
          <a:xfrm>
            <a:off x="10378440" y="2331720"/>
            <a:ext cx="1325880" cy="274320"/>
          </a:xfrm>
          <a:prstGeom prst="rect">
            <a:avLst/>
          </a:prstGeom>
          <a:noFill/>
          <a:ln/>
        </p:spPr>
        <p:txBody>
          <a:bodyPr wrap="square" lIns="0" tIns="0" rIns="0" bIns="0" rtlCol="0" anchor="ctr"/>
          <a:lstStyle/>
          <a:p>
            <a:pPr indent="0" marL="0">
              <a:buNone/>
            </a:pPr>
            <a:r>
              <a:rPr lang="en-US" sz="1000" b="1" spc="100" kern="0" dirty="0">
                <a:solidFill>
                  <a:srgbClr val="E8A93A"/>
                </a:solidFill>
                <a:latin typeface="Calibri" pitchFamily="34" charset="0"/>
                <a:ea typeface="Calibri" pitchFamily="34" charset="-122"/>
                <a:cs typeface="Calibri" pitchFamily="34" charset="-120"/>
              </a:rPr>
              <a:t>RANK CORR.</a:t>
            </a:r>
            <a:endParaRPr lang="en-US" sz="1000" dirty="0"/>
          </a:p>
        </p:txBody>
      </p:sp>
      <p:sp>
        <p:nvSpPr>
          <p:cNvPr id="8" name="Text 5"/>
          <p:cNvSpPr txBox="1"/>
          <p:nvPr/>
        </p:nvSpPr>
        <p:spPr>
          <a:xfrm>
            <a:off x="10287000" y="2606040"/>
            <a:ext cx="14630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entury Schoolbook" pitchFamily="34" charset="0"/>
                <a:ea typeface="Century Schoolbook" pitchFamily="34" charset="-122"/>
                <a:cs typeface="Century Schoolbook" pitchFamily="34" charset="-120"/>
              </a:rPr>
              <a:t>0.086</a:t>
            </a:r>
            <a:endParaRPr lang="en-US" sz="3400" dirty="0"/>
          </a:p>
        </p:txBody>
      </p:sp>
      <p:sp>
        <p:nvSpPr>
          <p:cNvPr id="9" name="Text 6"/>
          <p:cNvSpPr txBox="1"/>
          <p:nvPr/>
        </p:nvSpPr>
        <p:spPr>
          <a:xfrm>
            <a:off x="10332720" y="3246120"/>
            <a:ext cx="1371600" cy="457200"/>
          </a:xfrm>
          <a:prstGeom prst="rect">
            <a:avLst/>
          </a:prstGeom>
          <a:noFill/>
          <a:ln/>
        </p:spPr>
        <p:txBody>
          <a:bodyPr wrap="square" lIns="0" tIns="0" rIns="0" bIns="0" rtlCol="0" anchor="ctr"/>
          <a:lstStyle/>
          <a:p>
            <a:pPr algn="ctr" indent="0" marL="0">
              <a:lnSpc>
                <a:spcPct val="105000"/>
              </a:lnSpc>
              <a:buNone/>
            </a:pPr>
            <a:r>
              <a:rPr lang="en-US" sz="950" dirty="0">
                <a:solidFill>
                  <a:srgbClr val="9FB8D0"/>
                </a:solidFill>
                <a:latin typeface="Calibri" pitchFamily="34" charset="0"/>
                <a:ea typeface="Calibri" pitchFamily="34" charset="-122"/>
                <a:cs typeface="Calibri" pitchFamily="34" charset="-120"/>
              </a:rPr>
              <a:t>formation → evaluation</a:t>
            </a:r>
            <a:endParaRPr lang="en-US" sz="950" dirty="0"/>
          </a:p>
        </p:txBody>
      </p:sp>
      <p:sp>
        <p:nvSpPr>
          <p:cNvPr id="10" name="Text 7"/>
          <p:cNvSpPr txBox="1"/>
          <p:nvPr/>
        </p:nvSpPr>
        <p:spPr>
          <a:xfrm>
            <a:off x="10332720" y="3794760"/>
            <a:ext cx="1371600" cy="1554480"/>
          </a:xfrm>
          <a:prstGeom prst="rect">
            <a:avLst/>
          </a:prstGeom>
          <a:noFill/>
          <a:ln/>
        </p:spPr>
        <p:txBody>
          <a:bodyPr wrap="square" lIns="0" tIns="0" rIns="0" bIns="0" rtlCol="0" anchor="ctr"/>
          <a:lstStyle/>
          <a:p>
            <a:pPr algn="ctr" indent="0" marL="0">
              <a:lnSpc>
                <a:spcPct val="112000"/>
              </a:lnSpc>
              <a:buNone/>
            </a:pPr>
            <a:r>
              <a:rPr lang="en-US" sz="1050" dirty="0">
                <a:solidFill>
                  <a:srgbClr val="CADCFC"/>
                </a:solidFill>
                <a:latin typeface="Calibri" pitchFamily="34" charset="0"/>
                <a:ea typeface="Calibri" pitchFamily="34" charset="-122"/>
                <a:cs typeface="Calibri" pitchFamily="34" charset="-120"/>
              </a:rPr>
              <a:t>Essentially zero. The ranking carried no information about what came next — the persistence test, failed cleanly.</a:t>
            </a:r>
            <a:endParaRPr lang="en-US" sz="1050" dirty="0"/>
          </a:p>
        </p:txBody>
      </p:sp>
      <p:sp>
        <p:nvSpPr>
          <p:cNvPr id="11" name="Shape 8"/>
          <p:cNvSpPr/>
          <p:nvPr/>
        </p:nvSpPr>
        <p:spPr>
          <a:xfrm>
            <a:off x="640080" y="5623560"/>
            <a:ext cx="11155680" cy="777240"/>
          </a:xfrm>
          <a:prstGeom prst="roundRect">
            <a:avLst>
              <a:gd name="adj" fmla="val 7059"/>
            </a:avLst>
          </a:prstGeom>
          <a:solidFill>
            <a:srgbClr val="1B3A5F"/>
          </a:solidFill>
          <a:ln/>
        </p:spPr>
      </p:sp>
      <p:sp>
        <p:nvSpPr>
          <p:cNvPr id="12" name="Text 9"/>
          <p:cNvSpPr txBox="1"/>
          <p:nvPr/>
        </p:nvSpPr>
        <p:spPr>
          <a:xfrm>
            <a:off x="960120" y="5623560"/>
            <a:ext cx="10515600" cy="77724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And it selects people about to stop trading. </a:t>
            </a:r>
            <a:pPr algn="ctr" indent="0" marL="0">
              <a:lnSpc>
                <a:spcPct val="105000"/>
              </a:lnSpc>
              <a:buNone/>
            </a:pPr>
            <a:r>
              <a:rPr lang="en-US" sz="1250" dirty="0">
                <a:solidFill>
                  <a:srgbClr val="CADCFC"/>
                </a:solidFill>
                <a:latin typeface="Calibri" pitchFamily="34" charset="0"/>
                <a:ea typeface="Calibri" pitchFamily="34" charset="-122"/>
                <a:cs typeface="Calibri" pitchFamily="34" charset="-120"/>
              </a:rPr>
              <a:t>Ranks #1 and #3 barely appear in evaluation — Lamar Smith left Congress, Schneider made 8 trades — so the two strongest past performers contribute almost nothing to the portfolio you’d have held.</a:t>
            </a:r>
            <a:endParaRPr lang="en-US" sz="1250" dirty="0"/>
          </a:p>
        </p:txBody>
      </p:sp>
      <p:sp>
        <p:nvSpPr>
          <p:cNvPr id="13" name="Text 10"/>
          <p:cNvSpPr txBox="1"/>
          <p:nvPr/>
        </p:nvSpPr>
        <p:spPr>
          <a:xfrm>
            <a:off x="11505895" y="6400800"/>
            <a:ext cx="457200" cy="27432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640080" y="502920"/>
            <a:ext cx="10515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TRACK B · DOES OVERSIGHT CONFER AN EDGE?</a:t>
            </a:r>
            <a:endParaRPr lang="en-US" sz="1200" dirty="0"/>
          </a:p>
        </p:txBody>
      </p:sp>
      <p:sp>
        <p:nvSpPr>
          <p:cNvPr id="3" name="Text 1"/>
          <p:cNvSpPr txBox="1"/>
          <p:nvPr/>
        </p:nvSpPr>
        <p:spPr>
          <a:xfrm>
            <a:off x="640080" y="868680"/>
            <a:ext cx="10972800" cy="731520"/>
          </a:xfrm>
          <a:prstGeom prst="rect">
            <a:avLst/>
          </a:prstGeom>
          <a:noFill/>
          <a:ln/>
        </p:spPr>
        <p:txBody>
          <a:bodyPr wrap="square" lIns="0" tIns="0" rIns="0" bIns="0" rtlCol="0" anchor="ctr"/>
          <a:lstStyle/>
          <a:p>
            <a:pPr indent="0" marL="0">
              <a:buNone/>
            </a:pPr>
            <a:r>
              <a:rPr lang="en-US" sz="2600" b="1" dirty="0">
                <a:solidFill>
                  <a:srgbClr val="1A2332"/>
                </a:solidFill>
                <a:latin typeface="Century Schoolbook" pitchFamily="34" charset="0"/>
                <a:ea typeface="Century Schoolbook" pitchFamily="34" charset="-122"/>
                <a:cs typeface="Century Schoolbook" pitchFamily="34" charset="-120"/>
              </a:rPr>
              <a:t>Tested only in the sectors each committee regulates</a:t>
            </a:r>
            <a:endParaRPr lang="en-US" sz="2600" dirty="0"/>
          </a:p>
        </p:txBody>
      </p:sp>
      <p:sp>
        <p:nvSpPr>
          <p:cNvPr id="4" name="Text 2"/>
          <p:cNvSpPr txBox="1"/>
          <p:nvPr/>
        </p:nvSpPr>
        <p:spPr>
          <a:xfrm>
            <a:off x="640080" y="1444752"/>
            <a:ext cx="10881360" cy="640080"/>
          </a:xfrm>
          <a:prstGeom prst="rect">
            <a:avLst/>
          </a:prstGeom>
          <a:noFill/>
          <a:ln/>
        </p:spPr>
        <p:txBody>
          <a:bodyPr wrap="square" lIns="0" tIns="0" rIns="0" bIns="0" rtlCol="0" anchor="ctr"/>
          <a:lstStyle/>
          <a:p>
            <a:pPr indent="0" marL="0">
              <a:lnSpc>
                <a:spcPct val="112000"/>
              </a:lnSpc>
              <a:buNone/>
            </a:pPr>
            <a:r>
              <a:rPr lang="en-US" sz="1300" dirty="0">
                <a:solidFill>
                  <a:srgbClr val="5A6B7B"/>
                </a:solidFill>
                <a:latin typeface="Calibri" pitchFamily="34" charset="0"/>
                <a:ea typeface="Calibri" pitchFamily="34" charset="-122"/>
                <a:cs typeface="Calibri" pitchFamily="34" charset="-120"/>
              </a:rPr>
              <a:t>Committee membership rebuilt point-in-time for the 116th–118th Congresses, joined to traders by name (99.6% matched). 1,843 in-sector trades, 90 members. Small by construction — read the intervals, not the stars.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10058400" cy="914400"/>
        </p:xfrm>
        <a:graphic>
          <a:graphicData uri="http://schemas.openxmlformats.org/drawingml/2006/table">
            <a:tbl>
              <a:tblPr/>
              <a:tblGrid>
                <a:gridCol w="3017520"/>
                <a:gridCol w="2011680"/>
                <a:gridCol w="1188720"/>
                <a:gridCol w="1371600"/>
                <a:gridCol w="1280160"/>
                <a:gridCol w="1188720"/>
              </a:tblGrid>
              <a:tr h="40233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Committee group</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Sectors</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Trades</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α %/yr</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β</a:t>
                      </a:r>
                      <a:endParaRPr lang="en-US" sz="125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13294B"/>
                    </a:solidFill>
                  </a:tcPr>
                </a:tc>
              </a:tr>
              <a:tr h="384048">
                <a:tc>
                  <a:txBody>
                    <a:bodyPr/>
                    <a:lstStyle/>
                    <a:p>
                      <a:pPr algn="l" indent="0" marL="0">
                        <a:buNone/>
                      </a:pPr>
                      <a:r>
                        <a:rPr lang="en-US" sz="1200" b="1" dirty="0">
                          <a:solidFill>
                            <a:srgbClr val="13294B"/>
                          </a:solidFill>
                          <a:latin typeface="Calibri" pitchFamily="34" charset="0"/>
                          <a:ea typeface="Calibri" pitchFamily="34" charset="-122"/>
                          <a:cs typeface="Calibri" pitchFamily="34" charset="-120"/>
                        </a:rPr>
                        <a:t>Combined</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3EEF2"/>
                    </a:solidFill>
                  </a:tcPr>
                </a:tc>
                <a:tc>
                  <a:txBody>
                    <a:bodyPr/>
                    <a:lstStyle/>
                    <a:p>
                      <a:pPr algn="ctr" indent="0" marL="0">
                        <a:buNone/>
                      </a:pPr>
                      <a:r>
                        <a:rPr lang="en-US" sz="1200" b="1" dirty="0">
                          <a:solidFill>
                            <a:srgbClr val="1A2332"/>
                          </a:solidFill>
                          <a:latin typeface="Calibri" pitchFamily="34" charset="0"/>
                          <a:ea typeface="Calibri" pitchFamily="34" charset="-122"/>
                          <a:cs typeface="Calibri" pitchFamily="34" charset="-120"/>
                        </a:rPr>
                        <a:t>all mapped</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3EEF2"/>
                    </a:solidFill>
                  </a:tcPr>
                </a:tc>
                <a:tc>
                  <a:txBody>
                    <a:bodyPr/>
                    <a:lstStyle/>
                    <a:p>
                      <a:pPr algn="ctr" indent="0" marL="0">
                        <a:buNone/>
                      </a:pPr>
                      <a:r>
                        <a:rPr lang="en-US" sz="1200" b="1" dirty="0">
                          <a:solidFill>
                            <a:srgbClr val="1A2332"/>
                          </a:solidFill>
                          <a:latin typeface="Calibri" pitchFamily="34" charset="0"/>
                          <a:ea typeface="Calibri" pitchFamily="34" charset="-122"/>
                          <a:cs typeface="Calibri" pitchFamily="34" charset="-120"/>
                        </a:rPr>
                        <a:t>1,843</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3EEF2"/>
                    </a:solidFill>
                  </a:tcPr>
                </a:tc>
                <a:tc>
                  <a:txBody>
                    <a:bodyPr/>
                    <a:lstStyle/>
                    <a:p>
                      <a:pPr algn="ctr" indent="0" marL="0">
                        <a:buNone/>
                      </a:pPr>
                      <a:r>
                        <a:rPr lang="en-US" sz="1200" b="1" dirty="0">
                          <a:solidFill>
                            <a:srgbClr val="1A2332"/>
                          </a:solidFill>
                          <a:latin typeface="Calibri" pitchFamily="34" charset="0"/>
                          <a:ea typeface="Calibri" pitchFamily="34" charset="-122"/>
                          <a:cs typeface="Calibri" pitchFamily="34" charset="-120"/>
                        </a:rPr>
                        <a:t>−5.34</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3EEF2"/>
                    </a:solidFill>
                  </a:tcPr>
                </a:tc>
                <a:tc>
                  <a:txBody>
                    <a:bodyPr/>
                    <a:lstStyle/>
                    <a:p>
                      <a:pPr algn="ctr" indent="0" marL="0">
                        <a:buNone/>
                      </a:pPr>
                      <a:r>
                        <a:rPr lang="en-US" sz="1200" b="1" dirty="0">
                          <a:solidFill>
                            <a:srgbClr val="1A2332"/>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3EEF2"/>
                    </a:solidFill>
                  </a:tcPr>
                </a:tc>
                <a:tc>
                  <a:txBody>
                    <a:bodyPr/>
                    <a:lstStyle/>
                    <a:p>
                      <a:pPr algn="ctr" indent="0" marL="0">
                        <a:buNone/>
                      </a:pPr>
                      <a:r>
                        <a:rPr lang="en-US" sz="1200" b="1" dirty="0">
                          <a:solidFill>
                            <a:srgbClr val="1A2332"/>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3EEF2"/>
                    </a:solidFill>
                  </a:tcPr>
                </a:tc>
              </a:tr>
              <a:tr h="384048">
                <a:tc>
                  <a:txBody>
                    <a:bodyPr/>
                    <a:lstStyle/>
                    <a:p>
                      <a:pPr algn="l" indent="0" marL="0">
                        <a:buNone/>
                      </a:pPr>
                      <a:r>
                        <a:rPr lang="en-US" sz="1200" b="1" dirty="0">
                          <a:solidFill>
                            <a:srgbClr val="1A2332"/>
                          </a:solidFill>
                          <a:latin typeface="Calibri" pitchFamily="34" charset="0"/>
                          <a:ea typeface="Calibri" pitchFamily="34" charset="-122"/>
                          <a:cs typeface="Calibri" pitchFamily="34" charset="-120"/>
                        </a:rPr>
                        <a:t>Science / Commerce</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IT, Comm Svcs</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463</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+6.33</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1.80*</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A2332"/>
                          </a:solidFill>
                          <a:latin typeface="Calibri" pitchFamily="34" charset="0"/>
                          <a:ea typeface="Calibri" pitchFamily="34" charset="-122"/>
                          <a:cs typeface="Calibri" pitchFamily="34" charset="-120"/>
                        </a:rPr>
                        <a:t>Health</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Health Care</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322</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+3.10</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0.76</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r>
              <a:tr h="384048">
                <a:tc>
                  <a:txBody>
                    <a:bodyPr/>
                    <a:lstStyle/>
                    <a:p>
                      <a:pPr algn="l" indent="0" marL="0">
                        <a:buNone/>
                      </a:pPr>
                      <a:r>
                        <a:rPr lang="en-US" sz="1200" b="1" dirty="0">
                          <a:solidFill>
                            <a:srgbClr val="1A2332"/>
                          </a:solidFill>
                          <a:latin typeface="Calibri" pitchFamily="34" charset="0"/>
                          <a:ea typeface="Calibri" pitchFamily="34" charset="-122"/>
                          <a:cs typeface="Calibri" pitchFamily="34" charset="-120"/>
                        </a:rPr>
                        <a:t>Agriculture</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Cons. Staples</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68</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−0.68</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−0.09</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0.56</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A2332"/>
                          </a:solidFill>
                          <a:latin typeface="Calibri" pitchFamily="34" charset="0"/>
                          <a:ea typeface="Calibri" pitchFamily="34" charset="-122"/>
                          <a:cs typeface="Calibri" pitchFamily="34" charset="-120"/>
                        </a:rPr>
                        <a:t>Transportation / Infra.</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Indust., Mat.</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277</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−0.28</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1.14</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r>
              <a:tr h="384048">
                <a:tc>
                  <a:txBody>
                    <a:bodyPr/>
                    <a:lstStyle/>
                    <a:p>
                      <a:pPr algn="l" indent="0" marL="0">
                        <a:buNone/>
                      </a:pPr>
                      <a:r>
                        <a:rPr lang="en-US" sz="1200" b="1" dirty="0">
                          <a:solidFill>
                            <a:srgbClr val="1A2332"/>
                          </a:solidFill>
                          <a:latin typeface="Calibri" pitchFamily="34" charset="0"/>
                          <a:ea typeface="Calibri" pitchFamily="34" charset="-122"/>
                          <a:cs typeface="Calibri" pitchFamily="34" charset="-120"/>
                        </a:rPr>
                        <a:t>Armed Services</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Industrials</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296</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−2.11</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−0.31</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1.24</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A2332"/>
                          </a:solidFill>
                          <a:latin typeface="Calibri" pitchFamily="34" charset="0"/>
                          <a:ea typeface="Calibri" pitchFamily="34" charset="-122"/>
                          <a:cs typeface="Calibri" pitchFamily="34" charset="-120"/>
                        </a:rPr>
                        <a:t>Energy &amp; Commerce</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Energy, Util.</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−17.03</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1.26</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EEF2F5"/>
                    </a:solidFill>
                  </a:tcPr>
                </a:tc>
              </a:tr>
              <a:tr h="384048">
                <a:tc>
                  <a:txBody>
                    <a:bodyPr/>
                    <a:lstStyle/>
                    <a:p>
                      <a:pPr algn="l" indent="0" marL="0">
                        <a:buNone/>
                      </a:pPr>
                      <a:r>
                        <a:rPr lang="en-US" sz="1200" b="1" dirty="0">
                          <a:solidFill>
                            <a:srgbClr val="1A2332"/>
                          </a:solidFill>
                          <a:latin typeface="Calibri" pitchFamily="34" charset="0"/>
                          <a:ea typeface="Calibri" pitchFamily="34" charset="-122"/>
                          <a:cs typeface="Calibri" pitchFamily="34" charset="-120"/>
                        </a:rPr>
                        <a:t>Financial Services</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Fin., Real Est.</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353</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−19.66</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332"/>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91440" marR="91440" marT="45720" marB="45720" anchor="ctr">
                    <a:lnL w="12700" cap="flat" cmpd="sng" algn="ctr">
                      <a:solidFill>
                        <a:srgbClr val="D8DEE4"/>
                      </a:solidFill>
                      <a:prstDash val="solid"/>
                      <a:round/>
                      <a:headEnd type="none" w="med" len="med"/>
                      <a:tailEnd type="none" w="med" len="med"/>
                    </a:lnL>
                    <a:lnR w="12700" cap="flat" cmpd="sng" algn="ctr">
                      <a:solidFill>
                        <a:srgbClr val="D8DEE4"/>
                      </a:solidFill>
                      <a:prstDash val="solid"/>
                      <a:round/>
                      <a:headEnd type="none" w="med" len="med"/>
                      <a:tailEnd type="none" w="med" len="med"/>
                    </a:lnR>
                    <a:lnT w="12700" cap="flat" cmpd="sng" algn="ctr">
                      <a:solidFill>
                        <a:srgbClr val="D8DEE4"/>
                      </a:solidFill>
                      <a:prstDash val="solid"/>
                      <a:round/>
                      <a:headEnd type="none" w="med" len="med"/>
                      <a:tailEnd type="none" w="med" len="med"/>
                    </a:lnT>
                    <a:lnB w="12700" cap="flat" cmpd="sng" algn="ctr">
                      <a:solidFill>
                        <a:srgbClr val="D8DEE4"/>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40080" y="5623560"/>
            <a:ext cx="10881360" cy="640080"/>
          </a:xfrm>
          <a:prstGeom prst="rect">
            <a:avLst/>
          </a:prstGeom>
          <a:noFill/>
          <a:ln/>
        </p:spPr>
        <p:txBody>
          <a:bodyPr wrap="square" lIns="0" tIns="0" rIns="0" bIns="0" rtlCol="0" anchor="ctr"/>
          <a:lstStyle/>
          <a:p>
            <a:pPr indent="0" marL="0">
              <a:lnSpc>
                <a:spcPct val="112000"/>
              </a:lnSpc>
              <a:buNone/>
            </a:pPr>
            <a:r>
              <a:rPr lang="en-US" sz="1300" b="1" dirty="0">
                <a:solidFill>
                  <a:srgbClr val="1A2332"/>
                </a:solidFill>
                <a:latin typeface="Calibri" pitchFamily="34" charset="0"/>
                <a:ea typeface="Calibri" pitchFamily="34" charset="-122"/>
                <a:cs typeface="Calibri" pitchFamily="34" charset="-120"/>
              </a:rPr>
              <a:t>Not one committee clears significance under CAPM. </a:t>
            </a:r>
            <a:pPr indent="0" marL="0">
              <a:lnSpc>
                <a:spcPct val="112000"/>
              </a:lnSpc>
              <a:buNone/>
            </a:pPr>
            <a:r>
              <a:rPr lang="en-US" sz="1300" dirty="0">
                <a:solidFill>
                  <a:srgbClr val="5A6B7B"/>
                </a:solidFill>
                <a:latin typeface="Calibri" pitchFamily="34" charset="0"/>
                <a:ea typeface="Calibri" pitchFamily="34" charset="-122"/>
                <a:cs typeface="Calibri" pitchFamily="34" charset="-120"/>
              </a:rPr>
              <a:t>The widest intervals (Energy &amp; Commerce, Financials) span 55–70 points on tiny samples — that is the absence of a measurement, not a finding.</a:t>
            </a:r>
            <a:endParaRPr lang="en-US" sz="1300" dirty="0"/>
          </a:p>
        </p:txBody>
      </p:sp>
      <p:sp>
        <p:nvSpPr>
          <p:cNvPr id="7" name="Text 4"/>
          <p:cNvSpPr txBox="1"/>
          <p:nvPr/>
        </p:nvSpPr>
        <p:spPr>
          <a:xfrm>
            <a:off x="11505895" y="6400800"/>
            <a:ext cx="457200" cy="27432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640080" y="502920"/>
            <a:ext cx="10515600" cy="274320"/>
          </a:xfrm>
          <a:prstGeom prst="rect">
            <a:avLst/>
          </a:prstGeom>
          <a:noFill/>
          <a:ln/>
        </p:spPr>
        <p:txBody>
          <a:bodyPr wrap="square" lIns="0" tIns="0" rIns="0" bIns="0" rtlCol="0" anchor="ctr"/>
          <a:lstStyle/>
          <a:p>
            <a:pPr indent="0" marL="0">
              <a:buNone/>
            </a:pPr>
            <a:r>
              <a:rPr lang="en-US" sz="1200" b="1" spc="200" kern="0" dirty="0">
                <a:solidFill>
                  <a:srgbClr val="E8A93A"/>
                </a:solidFill>
                <a:latin typeface="Calibri" pitchFamily="34" charset="0"/>
                <a:ea typeface="Calibri" pitchFamily="34" charset="-122"/>
                <a:cs typeface="Calibri" pitchFamily="34" charset="-120"/>
              </a:rPr>
              <a:t>THE CLEANEST STATEMENT THE DATA SUPPORTS</a:t>
            </a:r>
            <a:endParaRPr lang="en-US" sz="1200" dirty="0"/>
          </a:p>
        </p:txBody>
      </p:sp>
      <p:sp>
        <p:nvSpPr>
          <p:cNvPr id="3" name="Text 1"/>
          <p:cNvSpPr txBox="1"/>
          <p:nvPr/>
        </p:nvSpPr>
        <p:spPr>
          <a:xfrm>
            <a:off x="640080" y="868680"/>
            <a:ext cx="10972800" cy="731520"/>
          </a:xfrm>
          <a:prstGeom prst="rect">
            <a:avLst/>
          </a:prstGeom>
          <a:noFill/>
          <a:ln/>
        </p:spPr>
        <p:txBody>
          <a:bodyPr wrap="square" lIns="0" tIns="0" rIns="0" bIns="0" rtlCol="0" anchor="ctr"/>
          <a:lstStyle/>
          <a:p>
            <a:pPr indent="0" marL="0">
              <a:buNone/>
            </a:pPr>
            <a:r>
              <a:rPr lang="en-US" sz="2800" b="1" dirty="0">
                <a:solidFill>
                  <a:srgbClr val="1A2332"/>
                </a:solidFill>
                <a:latin typeface="Century Schoolbook" pitchFamily="34" charset="0"/>
                <a:ea typeface="Century Schoolbook" pitchFamily="34" charset="-122"/>
                <a:cs typeface="Century Schoolbook" pitchFamily="34" charset="-120"/>
              </a:rPr>
              <a:t>Hedge out the market, and nothing remains</a:t>
            </a:r>
            <a:endParaRPr lang="en-US" sz="2800" dirty="0"/>
          </a:p>
        </p:txBody>
      </p:sp>
      <p:sp>
        <p:nvSpPr>
          <p:cNvPr id="4" name="Text 2"/>
          <p:cNvSpPr txBox="1"/>
          <p:nvPr/>
        </p:nvSpPr>
        <p:spPr>
          <a:xfrm>
            <a:off x="640080" y="1481328"/>
            <a:ext cx="10881360" cy="685800"/>
          </a:xfrm>
          <a:prstGeom prst="rect">
            <a:avLst/>
          </a:prstGeom>
          <a:noFill/>
          <a:ln/>
        </p:spPr>
        <p:txBody>
          <a:bodyPr wrap="square" lIns="0" tIns="0" rIns="0" bIns="0" rtlCol="0" anchor="ctr"/>
          <a:lstStyle/>
          <a:p>
            <a:pPr indent="0" marL="0">
              <a:lnSpc>
                <a:spcPct val="115000"/>
              </a:lnSpc>
              <a:buNone/>
            </a:pPr>
            <a:r>
              <a:rPr lang="en-US" sz="1500" dirty="0">
                <a:solidFill>
                  <a:srgbClr val="5A6B7B"/>
                </a:solidFill>
                <a:latin typeface="Calibri" pitchFamily="34" charset="0"/>
                <a:ea typeface="Calibri" pitchFamily="34" charset="-122"/>
                <a:cs typeface="Calibri" pitchFamily="34" charset="-120"/>
              </a:rPr>
              <a:t>Treating disclosed sales as short positions collapses market exposure almost exactly as theory predicts. Track A’s β falls from 1.03 to −0.18; Armed Services from 1.24 to −0.01. The hedge works — but alpha does not survive it.</a:t>
            </a:r>
            <a:endParaRPr lang="en-US" sz="1500" dirty="0"/>
          </a:p>
        </p:txBody>
      </p:sp>
      <p:graphicFrame>
        <p:nvGraphicFramePr>
          <p:cNvPr id="5" name="Chart 0" descr=""/>
          <p:cNvGraphicFramePr/>
          <p:nvPr/>
        </p:nvGraphicFramePr>
        <p:xfrm>
          <a:off x="640080" y="2286000"/>
          <a:ext cx="630936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223760" y="2286000"/>
            <a:ext cx="4297680" cy="3566160"/>
          </a:xfrm>
          <a:prstGeom prst="roundRect">
            <a:avLst>
              <a:gd name="adj" fmla="val 2051"/>
            </a:avLst>
          </a:prstGeom>
          <a:solidFill>
            <a:srgbClr val="13294B"/>
          </a:solidFill>
          <a:ln/>
        </p:spPr>
      </p:sp>
      <p:sp>
        <p:nvSpPr>
          <p:cNvPr id="7" name="Text 4"/>
          <p:cNvSpPr txBox="1"/>
          <p:nvPr/>
        </p:nvSpPr>
        <p:spPr>
          <a:xfrm>
            <a:off x="7498080" y="2560320"/>
            <a:ext cx="3749040" cy="274320"/>
          </a:xfrm>
          <a:prstGeom prst="rect">
            <a:avLst/>
          </a:prstGeom>
          <a:noFill/>
          <a:ln/>
        </p:spPr>
        <p:txBody>
          <a:bodyPr wrap="square" lIns="0" tIns="0" rIns="0" bIns="0" rtlCol="0" anchor="ctr"/>
          <a:lstStyle/>
          <a:p>
            <a:pPr indent="0" marL="0">
              <a:buNone/>
            </a:pPr>
            <a:r>
              <a:rPr lang="en-US" sz="1200" b="1" spc="100" kern="0" dirty="0">
                <a:solidFill>
                  <a:srgbClr val="E8A93A"/>
                </a:solidFill>
                <a:latin typeface="Calibri" pitchFamily="34" charset="0"/>
                <a:ea typeface="Calibri" pitchFamily="34" charset="-122"/>
                <a:cs typeface="Calibri" pitchFamily="34" charset="-120"/>
              </a:rPr>
              <a:t>TRACK A LONG–SHORT α</a:t>
            </a:r>
            <a:endParaRPr lang="en-US" sz="1200" dirty="0"/>
          </a:p>
        </p:txBody>
      </p:sp>
      <p:sp>
        <p:nvSpPr>
          <p:cNvPr id="8" name="Text 5"/>
          <p:cNvSpPr txBox="1"/>
          <p:nvPr/>
        </p:nvSpPr>
        <p:spPr>
          <a:xfrm>
            <a:off x="7498080" y="2880360"/>
            <a:ext cx="3749040" cy="914400"/>
          </a:xfrm>
          <a:prstGeom prst="rect">
            <a:avLst/>
          </a:prstGeom>
          <a:noFill/>
          <a:ln/>
        </p:spPr>
        <p:txBody>
          <a:bodyPr wrap="square" lIns="0" tIns="0" rIns="0" bIns="0" rtlCol="0" anchor="ctr"/>
          <a:lstStyle/>
          <a:p>
            <a:pPr indent="0" marL="0">
              <a:buNone/>
            </a:pPr>
            <a:r>
              <a:rPr lang="en-US" sz="6000" b="1" dirty="0">
                <a:solidFill>
                  <a:srgbClr val="FFFFFF"/>
                </a:solidFill>
                <a:latin typeface="Century Schoolbook" pitchFamily="34" charset="0"/>
                <a:ea typeface="Century Schoolbook" pitchFamily="34" charset="-122"/>
                <a:cs typeface="Century Schoolbook" pitchFamily="34" charset="-120"/>
              </a:rPr>
              <a:t>−0.40%</a:t>
            </a:r>
            <a:endParaRPr lang="en-US" sz="6000" dirty="0"/>
          </a:p>
        </p:txBody>
      </p:sp>
      <p:sp>
        <p:nvSpPr>
          <p:cNvPr id="9" name="Text 6"/>
          <p:cNvSpPr txBox="1"/>
          <p:nvPr/>
        </p:nvSpPr>
        <p:spPr>
          <a:xfrm>
            <a:off x="7498080" y="3840480"/>
            <a:ext cx="3749040" cy="3200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per year   ·   t = −0.09</a:t>
            </a:r>
            <a:endParaRPr lang="en-US" sz="1400" dirty="0"/>
          </a:p>
        </p:txBody>
      </p:sp>
      <p:sp>
        <p:nvSpPr>
          <p:cNvPr id="10" name="Text 7"/>
          <p:cNvSpPr txBox="1"/>
          <p:nvPr/>
        </p:nvSpPr>
        <p:spPr>
          <a:xfrm>
            <a:off x="7498080" y="4434840"/>
            <a:ext cx="3794760" cy="1280160"/>
          </a:xfrm>
          <a:prstGeom prst="rect">
            <a:avLst/>
          </a:prstGeom>
          <a:noFill/>
          <a:ln/>
        </p:spPr>
        <p:txBody>
          <a:bodyPr wrap="square" lIns="0" tIns="0" rIns="0" bIns="0" rtlCol="0" anchor="ctr"/>
          <a:lstStyle/>
          <a:p>
            <a:pPr indent="0" marL="0">
              <a:lnSpc>
                <a:spcPct val="120000"/>
              </a:lnSpc>
              <a:buNone/>
            </a:pPr>
            <a:r>
              <a:rPr lang="en-US" sz="1450" i="1" dirty="0">
                <a:solidFill>
                  <a:srgbClr val="9FB8D0"/>
                </a:solidFill>
                <a:latin typeface="Calibri" pitchFamily="34" charset="0"/>
                <a:ea typeface="Calibri" pitchFamily="34" charset="-122"/>
                <a:cs typeface="Calibri" pitchFamily="34" charset="-120"/>
              </a:rPr>
              <a:t>Once market exposure is removed, essentially nothing is left. These portfolios were long the market — and the market is what paid them.</a:t>
            </a:r>
            <a:endParaRPr lang="en-US" sz="1450" dirty="0"/>
          </a:p>
        </p:txBody>
      </p:sp>
      <p:sp>
        <p:nvSpPr>
          <p:cNvPr id="11" name="Text 8"/>
          <p:cNvSpPr txBox="1"/>
          <p:nvPr/>
        </p:nvSpPr>
        <p:spPr>
          <a:xfrm>
            <a:off x="11505895" y="6400800"/>
            <a:ext cx="457200" cy="27432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640080" y="502920"/>
            <a:ext cx="10515600" cy="274320"/>
          </a:xfrm>
          <a:prstGeom prst="rect">
            <a:avLst/>
          </a:prstGeom>
          <a:noFill/>
          <a:ln/>
        </p:spPr>
        <p:txBody>
          <a:bodyPr wrap="square" lIns="0" tIns="0" rIns="0" bIns="0" rtlCol="0" anchor="ctr"/>
          <a:lstStyle/>
          <a:p>
            <a:pPr indent="0" marL="0">
              <a:buNone/>
            </a:pPr>
            <a:r>
              <a:rPr lang="en-US" sz="1200" b="1" spc="200" kern="0" dirty="0">
                <a:solidFill>
                  <a:srgbClr val="E8A93A"/>
                </a:solidFill>
                <a:latin typeface="Calibri" pitchFamily="34" charset="0"/>
                <a:ea typeface="Calibri" pitchFamily="34" charset="-122"/>
                <a:cs typeface="Calibri" pitchFamily="34" charset="-120"/>
              </a:rPr>
              <a:t>READING THE ONE POSITIVE RESULT HONESTLY</a:t>
            </a:r>
            <a:endParaRPr lang="en-US" sz="1200" dirty="0"/>
          </a:p>
        </p:txBody>
      </p:sp>
      <p:sp>
        <p:nvSpPr>
          <p:cNvPr id="3" name="Text 1"/>
          <p:cNvSpPr txBox="1"/>
          <p:nvPr/>
        </p:nvSpPr>
        <p:spPr>
          <a:xfrm>
            <a:off x="640080" y="868680"/>
            <a:ext cx="10972800" cy="731520"/>
          </a:xfrm>
          <a:prstGeom prst="rect">
            <a:avLst/>
          </a:prstGeom>
          <a:noFill/>
          <a:ln/>
        </p:spPr>
        <p:txBody>
          <a:bodyPr wrap="square" lIns="0" tIns="0" rIns="0" bIns="0" rtlCol="0" anchor="ctr"/>
          <a:lstStyle/>
          <a:p>
            <a:pPr indent="0" marL="0">
              <a:buNone/>
            </a:pPr>
            <a:r>
              <a:rPr lang="en-US" sz="2600" b="1" dirty="0">
                <a:solidFill>
                  <a:srgbClr val="1A2332"/>
                </a:solidFill>
                <a:latin typeface="Century Schoolbook" pitchFamily="34" charset="0"/>
                <a:ea typeface="Century Schoolbook" pitchFamily="34" charset="-122"/>
                <a:cs typeface="Century Schoolbook" pitchFamily="34" charset="-120"/>
              </a:rPr>
              <a:t>44 specifications. 3 starred. ~2.2 expected by chance.</a:t>
            </a:r>
            <a:endParaRPr lang="en-US" sz="2600" dirty="0"/>
          </a:p>
        </p:txBody>
      </p:sp>
      <p:sp>
        <p:nvSpPr>
          <p:cNvPr id="4" name="Shape 2"/>
          <p:cNvSpPr/>
          <p:nvPr/>
        </p:nvSpPr>
        <p:spPr>
          <a:xfrm>
            <a:off x="640080" y="1737360"/>
            <a:ext cx="3502152" cy="1600200"/>
          </a:xfrm>
          <a:prstGeom prst="roundRect">
            <a:avLst>
              <a:gd name="adj" fmla="val 4571"/>
            </a:avLst>
          </a:prstGeom>
          <a:solidFill>
            <a:srgbClr val="FFFFFF"/>
          </a:solidFill>
          <a:ln w="12700">
            <a:solidFill>
              <a:srgbClr val="D8DEE4"/>
            </a:solidFill>
            <a:prstDash val="solid"/>
          </a:ln>
        </p:spPr>
      </p:sp>
      <p:sp>
        <p:nvSpPr>
          <p:cNvPr id="5" name="Text 3"/>
          <p:cNvSpPr txBox="1"/>
          <p:nvPr/>
        </p:nvSpPr>
        <p:spPr>
          <a:xfrm>
            <a:off x="640080" y="1847088"/>
            <a:ext cx="3502152" cy="777240"/>
          </a:xfrm>
          <a:prstGeom prst="rect">
            <a:avLst/>
          </a:prstGeom>
          <a:noFill/>
          <a:ln/>
        </p:spPr>
        <p:txBody>
          <a:bodyPr wrap="square" lIns="0" tIns="0" rIns="0" bIns="0" rtlCol="0" anchor="ctr"/>
          <a:lstStyle/>
          <a:p>
            <a:pPr algn="ctr" indent="0" marL="0">
              <a:buNone/>
            </a:pPr>
            <a:r>
              <a:rPr lang="en-US" sz="4400" b="1" dirty="0">
                <a:solidFill>
                  <a:srgbClr val="5A6B7B"/>
                </a:solidFill>
                <a:latin typeface="Century Schoolbook" pitchFamily="34" charset="0"/>
                <a:ea typeface="Century Schoolbook" pitchFamily="34" charset="-122"/>
                <a:cs typeface="Century Schoolbook" pitchFamily="34" charset="-120"/>
              </a:rPr>
              <a:t>44</a:t>
            </a:r>
            <a:endParaRPr lang="en-US" sz="4400" dirty="0"/>
          </a:p>
        </p:txBody>
      </p:sp>
      <p:sp>
        <p:nvSpPr>
          <p:cNvPr id="6" name="Text 4"/>
          <p:cNvSpPr txBox="1"/>
          <p:nvPr/>
        </p:nvSpPr>
        <p:spPr>
          <a:xfrm>
            <a:off x="640080" y="2651760"/>
            <a:ext cx="3502152" cy="548640"/>
          </a:xfrm>
          <a:prstGeom prst="rect">
            <a:avLst/>
          </a:prstGeom>
          <a:noFill/>
          <a:ln/>
        </p:spPr>
        <p:txBody>
          <a:bodyPr wrap="square" lIns="0" tIns="0" rIns="0" bIns="0" rtlCol="0" anchor="ctr"/>
          <a:lstStyle/>
          <a:p>
            <a:pPr algn="ctr" indent="0" marL="0">
              <a:lnSpc>
                <a:spcPct val="100000"/>
              </a:lnSpc>
              <a:buNone/>
            </a:pPr>
            <a:r>
              <a:rPr lang="en-US" sz="1300" dirty="0">
                <a:solidFill>
                  <a:srgbClr val="5A6B7B"/>
                </a:solidFill>
                <a:latin typeface="Calibri" pitchFamily="34" charset="0"/>
                <a:ea typeface="Calibri" pitchFamily="34" charset="-122"/>
                <a:cs typeface="Calibri" pitchFamily="34" charset="-120"/>
              </a:rPr>
              <a:t>specifications</a:t>
            </a:r>
            <a:endParaRPr lang="en-US" sz="1300" dirty="0"/>
          </a:p>
          <a:p>
            <a:pPr algn="ctr" indent="0" marL="0">
              <a:lnSpc>
                <a:spcPct val="100000"/>
              </a:lnSpc>
              <a:buNone/>
            </a:pPr>
            <a:r>
              <a:rPr lang="en-US" sz="1300" dirty="0">
                <a:solidFill>
                  <a:srgbClr val="5A6B7B"/>
                </a:solidFill>
                <a:latin typeface="Calibri" pitchFamily="34" charset="0"/>
                <a:ea typeface="Calibri" pitchFamily="34" charset="-122"/>
                <a:cs typeface="Calibri" pitchFamily="34" charset="-120"/>
              </a:rPr>
              <a:t>estimated</a:t>
            </a:r>
            <a:endParaRPr lang="en-US" sz="1300" dirty="0"/>
          </a:p>
        </p:txBody>
      </p:sp>
      <p:sp>
        <p:nvSpPr>
          <p:cNvPr id="7" name="Shape 5"/>
          <p:cNvSpPr/>
          <p:nvPr/>
        </p:nvSpPr>
        <p:spPr>
          <a:xfrm>
            <a:off x="4325112" y="1737360"/>
            <a:ext cx="3502152" cy="1600200"/>
          </a:xfrm>
          <a:prstGeom prst="roundRect">
            <a:avLst>
              <a:gd name="adj" fmla="val 4571"/>
            </a:avLst>
          </a:prstGeom>
          <a:solidFill>
            <a:srgbClr val="FFFFFF"/>
          </a:solidFill>
          <a:ln w="12700">
            <a:solidFill>
              <a:srgbClr val="D8DEE4"/>
            </a:solidFill>
            <a:prstDash val="solid"/>
          </a:ln>
        </p:spPr>
      </p:sp>
      <p:sp>
        <p:nvSpPr>
          <p:cNvPr id="8" name="Text 6"/>
          <p:cNvSpPr txBox="1"/>
          <p:nvPr/>
        </p:nvSpPr>
        <p:spPr>
          <a:xfrm>
            <a:off x="4325112" y="1847088"/>
            <a:ext cx="3502152" cy="777240"/>
          </a:xfrm>
          <a:prstGeom prst="rect">
            <a:avLst/>
          </a:prstGeom>
          <a:noFill/>
          <a:ln/>
        </p:spPr>
        <p:txBody>
          <a:bodyPr wrap="square" lIns="0" tIns="0" rIns="0" bIns="0" rtlCol="0" anchor="ctr"/>
          <a:lstStyle/>
          <a:p>
            <a:pPr algn="ctr" indent="0" marL="0">
              <a:buNone/>
            </a:pPr>
            <a:r>
              <a:rPr lang="en-US" sz="4400" b="1" dirty="0">
                <a:solidFill>
                  <a:srgbClr val="1A2332"/>
                </a:solidFill>
                <a:latin typeface="Century Schoolbook" pitchFamily="34" charset="0"/>
                <a:ea typeface="Century Schoolbook" pitchFamily="34" charset="-122"/>
                <a:cs typeface="Century Schoolbook" pitchFamily="34" charset="-120"/>
              </a:rPr>
              <a:t>3</a:t>
            </a:r>
            <a:endParaRPr lang="en-US" sz="4400" dirty="0"/>
          </a:p>
        </p:txBody>
      </p:sp>
      <p:sp>
        <p:nvSpPr>
          <p:cNvPr id="9" name="Text 7"/>
          <p:cNvSpPr txBox="1"/>
          <p:nvPr/>
        </p:nvSpPr>
        <p:spPr>
          <a:xfrm>
            <a:off x="4325112" y="2651760"/>
            <a:ext cx="3502152" cy="548640"/>
          </a:xfrm>
          <a:prstGeom prst="rect">
            <a:avLst/>
          </a:prstGeom>
          <a:noFill/>
          <a:ln/>
        </p:spPr>
        <p:txBody>
          <a:bodyPr wrap="square" lIns="0" tIns="0" rIns="0" bIns="0" rtlCol="0" anchor="ctr"/>
          <a:lstStyle/>
          <a:p>
            <a:pPr algn="ctr" indent="0" marL="0">
              <a:lnSpc>
                <a:spcPct val="100000"/>
              </a:lnSpc>
              <a:buNone/>
            </a:pPr>
            <a:r>
              <a:rPr lang="en-US" sz="1300" dirty="0">
                <a:solidFill>
                  <a:srgbClr val="5A6B7B"/>
                </a:solidFill>
                <a:latin typeface="Calibri" pitchFamily="34" charset="0"/>
                <a:ea typeface="Calibri" pitchFamily="34" charset="-122"/>
                <a:cs typeface="Calibri" pitchFamily="34" charset="-120"/>
              </a:rPr>
              <a:t>cross the 5%</a:t>
            </a:r>
            <a:endParaRPr lang="en-US" sz="1300" dirty="0"/>
          </a:p>
          <a:p>
            <a:pPr algn="ctr" indent="0" marL="0">
              <a:lnSpc>
                <a:spcPct val="100000"/>
              </a:lnSpc>
              <a:buNone/>
            </a:pPr>
            <a:r>
              <a:rPr lang="en-US" sz="1300" dirty="0">
                <a:solidFill>
                  <a:srgbClr val="5A6B7B"/>
                </a:solidFill>
                <a:latin typeface="Calibri" pitchFamily="34" charset="0"/>
                <a:ea typeface="Calibri" pitchFamily="34" charset="-122"/>
                <a:cs typeface="Calibri" pitchFamily="34" charset="-120"/>
              </a:rPr>
              <a:t>threshold</a:t>
            </a:r>
            <a:endParaRPr lang="en-US" sz="1300" dirty="0"/>
          </a:p>
        </p:txBody>
      </p:sp>
      <p:sp>
        <p:nvSpPr>
          <p:cNvPr id="10" name="Shape 8"/>
          <p:cNvSpPr/>
          <p:nvPr/>
        </p:nvSpPr>
        <p:spPr>
          <a:xfrm>
            <a:off x="8010144" y="1737360"/>
            <a:ext cx="3502152" cy="1600200"/>
          </a:xfrm>
          <a:prstGeom prst="roundRect">
            <a:avLst>
              <a:gd name="adj" fmla="val 4571"/>
            </a:avLst>
          </a:prstGeom>
          <a:solidFill>
            <a:srgbClr val="FFFFFF"/>
          </a:solidFill>
          <a:ln w="12700">
            <a:solidFill>
              <a:srgbClr val="D8DEE4"/>
            </a:solidFill>
            <a:prstDash val="solid"/>
          </a:ln>
        </p:spPr>
      </p:sp>
      <p:sp>
        <p:nvSpPr>
          <p:cNvPr id="11" name="Text 9"/>
          <p:cNvSpPr txBox="1"/>
          <p:nvPr/>
        </p:nvSpPr>
        <p:spPr>
          <a:xfrm>
            <a:off x="8010144" y="1847088"/>
            <a:ext cx="3502152" cy="777240"/>
          </a:xfrm>
          <a:prstGeom prst="rect">
            <a:avLst/>
          </a:prstGeom>
          <a:noFill/>
          <a:ln/>
        </p:spPr>
        <p:txBody>
          <a:bodyPr wrap="square" lIns="0" tIns="0" rIns="0" bIns="0" rtlCol="0" anchor="ctr"/>
          <a:lstStyle/>
          <a:p>
            <a:pPr algn="ctr" indent="0" marL="0">
              <a:buNone/>
            </a:pPr>
            <a:r>
              <a:rPr lang="en-US" sz="4400" b="1" dirty="0">
                <a:solidFill>
                  <a:srgbClr val="E8A93A"/>
                </a:solidFill>
                <a:latin typeface="Century Schoolbook" pitchFamily="34" charset="0"/>
                <a:ea typeface="Century Schoolbook" pitchFamily="34" charset="-122"/>
                <a:cs typeface="Century Schoolbook" pitchFamily="34" charset="-120"/>
              </a:rPr>
              <a:t>~2.2</a:t>
            </a:r>
            <a:endParaRPr lang="en-US" sz="4400" dirty="0"/>
          </a:p>
        </p:txBody>
      </p:sp>
      <p:sp>
        <p:nvSpPr>
          <p:cNvPr id="12" name="Text 10"/>
          <p:cNvSpPr txBox="1"/>
          <p:nvPr/>
        </p:nvSpPr>
        <p:spPr>
          <a:xfrm>
            <a:off x="8010144" y="2651760"/>
            <a:ext cx="3502152" cy="548640"/>
          </a:xfrm>
          <a:prstGeom prst="rect">
            <a:avLst/>
          </a:prstGeom>
          <a:noFill/>
          <a:ln/>
        </p:spPr>
        <p:txBody>
          <a:bodyPr wrap="square" lIns="0" tIns="0" rIns="0" bIns="0" rtlCol="0" anchor="ctr"/>
          <a:lstStyle/>
          <a:p>
            <a:pPr algn="ctr" indent="0" marL="0">
              <a:lnSpc>
                <a:spcPct val="100000"/>
              </a:lnSpc>
              <a:buNone/>
            </a:pPr>
            <a:r>
              <a:rPr lang="en-US" sz="1300" dirty="0">
                <a:solidFill>
                  <a:srgbClr val="5A6B7B"/>
                </a:solidFill>
                <a:latin typeface="Calibri" pitchFamily="34" charset="0"/>
                <a:ea typeface="Calibri" pitchFamily="34" charset="-122"/>
                <a:cs typeface="Calibri" pitchFamily="34" charset="-120"/>
              </a:rPr>
              <a:t>expected by chance</a:t>
            </a:r>
            <a:endParaRPr lang="en-US" sz="1300" dirty="0"/>
          </a:p>
          <a:p>
            <a:pPr algn="ctr" indent="0" marL="0">
              <a:lnSpc>
                <a:spcPct val="100000"/>
              </a:lnSpc>
              <a:buNone/>
            </a:pPr>
            <a:r>
              <a:rPr lang="en-US" sz="1300" dirty="0">
                <a:solidFill>
                  <a:srgbClr val="5A6B7B"/>
                </a:solidFill>
                <a:latin typeface="Calibri" pitchFamily="34" charset="0"/>
                <a:ea typeface="Calibri" pitchFamily="34" charset="-122"/>
                <a:cs typeface="Calibri" pitchFamily="34" charset="-120"/>
              </a:rPr>
              <a:t>under the null</a:t>
            </a:r>
            <a:endParaRPr lang="en-US" sz="1300" dirty="0"/>
          </a:p>
        </p:txBody>
      </p:sp>
      <p:sp>
        <p:nvSpPr>
          <p:cNvPr id="13" name="Shape 11"/>
          <p:cNvSpPr/>
          <p:nvPr/>
        </p:nvSpPr>
        <p:spPr>
          <a:xfrm>
            <a:off x="640080" y="3611880"/>
            <a:ext cx="10881360" cy="1234440"/>
          </a:xfrm>
          <a:prstGeom prst="roundRect">
            <a:avLst>
              <a:gd name="adj" fmla="val 5185"/>
            </a:avLst>
          </a:prstGeom>
          <a:solidFill>
            <a:srgbClr val="FFFFFF"/>
          </a:solidFill>
          <a:ln w="12700">
            <a:solidFill>
              <a:srgbClr val="D8DEE4"/>
            </a:solidFill>
            <a:prstDash val="solid"/>
          </a:ln>
        </p:spPr>
      </p:sp>
      <p:sp>
        <p:nvSpPr>
          <p:cNvPr id="14" name="Text 12"/>
          <p:cNvSpPr txBox="1"/>
          <p:nvPr/>
        </p:nvSpPr>
        <p:spPr>
          <a:xfrm>
            <a:off x="914400" y="3611880"/>
            <a:ext cx="10332720" cy="1234440"/>
          </a:xfrm>
          <a:prstGeom prst="rect">
            <a:avLst/>
          </a:prstGeom>
          <a:noFill/>
          <a:ln/>
        </p:spPr>
        <p:txBody>
          <a:bodyPr wrap="square" lIns="0" tIns="0" rIns="0" bIns="0" rtlCol="0" anchor="ctr"/>
          <a:lstStyle/>
          <a:p>
            <a:pPr indent="0" marL="0">
              <a:lnSpc>
                <a:spcPct val="115000"/>
              </a:lnSpc>
              <a:buNone/>
            </a:pPr>
            <a:r>
              <a:rPr lang="en-US" sz="1450" b="1" dirty="0">
                <a:solidFill>
                  <a:srgbClr val="1A2332"/>
                </a:solidFill>
                <a:latin typeface="Calibri" pitchFamily="34" charset="0"/>
                <a:ea typeface="Calibri" pitchFamily="34" charset="-122"/>
                <a:cs typeface="Calibri" pitchFamily="34" charset="-120"/>
              </a:rPr>
              <a:t>Two of the three starred cells are negative</a:t>
            </a:r>
            <a:pPr indent="0" marL="0">
              <a:lnSpc>
                <a:spcPct val="115000"/>
              </a:lnSpc>
              <a:buNone/>
            </a:pPr>
            <a:r>
              <a:rPr lang="en-US" sz="1450" dirty="0">
                <a:solidFill>
                  <a:srgbClr val="1A2332"/>
                </a:solidFill>
                <a:latin typeface="Calibri" pitchFamily="34" charset="0"/>
                <a:ea typeface="Calibri" pitchFamily="34" charset="-122"/>
                <a:cs typeface="Calibri" pitchFamily="34" charset="-120"/>
              </a:rPr>
              <a:t> (the rejected-members control). The single positive one — Science/Commerce, 4-factor, +6.78%/yr, t = 2.16 — </a:t>
            </a:r>
            <a:pPr indent="0" marL="0">
              <a:lnSpc>
                <a:spcPct val="115000"/>
              </a:lnSpc>
              <a:buNone/>
            </a:pPr>
            <a:r>
              <a:rPr lang="en-US" sz="1450" b="1" dirty="0">
                <a:solidFill>
                  <a:srgbClr val="E2574C"/>
                </a:solidFill>
                <a:latin typeface="Calibri" pitchFamily="34" charset="0"/>
                <a:ea typeface="Calibri" pitchFamily="34" charset="-122"/>
                <a:cs typeface="Calibri" pitchFamily="34" charset="-120"/>
              </a:rPr>
              <a:t>does not survive its own CAPM spec (t = 1.80)</a:t>
            </a:r>
            <a:pPr indent="0" marL="0">
              <a:lnSpc>
                <a:spcPct val="115000"/>
              </a:lnSpc>
              <a:buNone/>
            </a:pPr>
            <a:r>
              <a:rPr lang="en-US" sz="1450" dirty="0">
                <a:solidFill>
                  <a:srgbClr val="1A2332"/>
                </a:solidFill>
                <a:latin typeface="Calibri" pitchFamily="34" charset="0"/>
                <a:ea typeface="Calibri" pitchFamily="34" charset="-122"/>
                <a:cs typeface="Calibri" pitchFamily="34" charset="-120"/>
              </a:rPr>
              <a:t>, rests on 463 trades by 24 members, and is exactly the isolated cell this count predicts.</a:t>
            </a:r>
            <a:endParaRPr lang="en-US" sz="1450" dirty="0"/>
          </a:p>
        </p:txBody>
      </p:sp>
      <p:sp>
        <p:nvSpPr>
          <p:cNvPr id="15" name="Shape 13"/>
          <p:cNvSpPr/>
          <p:nvPr/>
        </p:nvSpPr>
        <p:spPr>
          <a:xfrm>
            <a:off x="640080" y="5029200"/>
            <a:ext cx="10881360" cy="1097280"/>
          </a:xfrm>
          <a:prstGeom prst="roundRect">
            <a:avLst>
              <a:gd name="adj" fmla="val 5833"/>
            </a:avLst>
          </a:prstGeom>
          <a:solidFill>
            <a:srgbClr val="13294B"/>
          </a:solidFill>
          <a:ln/>
        </p:spPr>
      </p:sp>
      <p:sp>
        <p:nvSpPr>
          <p:cNvPr id="16" name="Text 14"/>
          <p:cNvSpPr txBox="1"/>
          <p:nvPr/>
        </p:nvSpPr>
        <p:spPr>
          <a:xfrm>
            <a:off x="914400" y="5029200"/>
            <a:ext cx="10332720" cy="1097280"/>
          </a:xfrm>
          <a:prstGeom prst="rect">
            <a:avLst/>
          </a:prstGeom>
          <a:noFill/>
          <a:ln/>
        </p:spPr>
        <p:txBody>
          <a:bodyPr wrap="square" lIns="0" tIns="0" rIns="0" bIns="0" rtlCol="0" anchor="ctr"/>
          <a:lstStyle/>
          <a:p>
            <a:pPr algn="ctr" indent="0" marL="0">
              <a:buNone/>
            </a:pPr>
            <a:r>
              <a:rPr lang="en-US" sz="1550" i="1" dirty="0">
                <a:solidFill>
                  <a:srgbClr val="FFFFFF"/>
                </a:solidFill>
                <a:latin typeface="Calibri" pitchFamily="34" charset="0"/>
                <a:ea typeface="Calibri" pitchFamily="34" charset="-122"/>
                <a:cs typeface="Calibri" pitchFamily="34" charset="-120"/>
              </a:rPr>
              <a:t>It is reported because every result is reported. It is not evidence that any committee confers a tradeable edge.</a:t>
            </a:r>
            <a:endParaRPr lang="en-US" sz="1550" dirty="0"/>
          </a:p>
        </p:txBody>
      </p:sp>
      <p:sp>
        <p:nvSpPr>
          <p:cNvPr id="17" name="Text 15"/>
          <p:cNvSpPr txBox="1"/>
          <p:nvPr/>
        </p:nvSpPr>
        <p:spPr>
          <a:xfrm>
            <a:off x="11505895" y="6400800"/>
            <a:ext cx="457200" cy="27432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640080" y="502920"/>
            <a:ext cx="10515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LIMITATIONS — STATED PLAINLY</a:t>
            </a:r>
            <a:endParaRPr lang="en-US" sz="1200" dirty="0"/>
          </a:p>
        </p:txBody>
      </p:sp>
      <p:sp>
        <p:nvSpPr>
          <p:cNvPr id="3" name="Text 1"/>
          <p:cNvSpPr txBox="1"/>
          <p:nvPr/>
        </p:nvSpPr>
        <p:spPr>
          <a:xfrm>
            <a:off x="640080" y="868680"/>
            <a:ext cx="10972800" cy="731520"/>
          </a:xfrm>
          <a:prstGeom prst="rect">
            <a:avLst/>
          </a:prstGeom>
          <a:noFill/>
          <a:ln/>
        </p:spPr>
        <p:txBody>
          <a:bodyPr wrap="square" lIns="0" tIns="0" rIns="0" bIns="0" rtlCol="0" anchor="ctr"/>
          <a:lstStyle/>
          <a:p>
            <a:pPr indent="0" marL="0">
              <a:buNone/>
            </a:pPr>
            <a:r>
              <a:rPr lang="en-US" sz="2800" b="1" dirty="0">
                <a:solidFill>
                  <a:srgbClr val="1A2332"/>
                </a:solidFill>
                <a:latin typeface="Century Schoolbook" pitchFamily="34" charset="0"/>
                <a:ea typeface="Century Schoolbook" pitchFamily="34" charset="-122"/>
                <a:cs typeface="Century Schoolbook" pitchFamily="34" charset="-120"/>
              </a:rPr>
              <a:t>What this study can and cannot resolve</a:t>
            </a:r>
            <a:endParaRPr lang="en-US" sz="2800" dirty="0"/>
          </a:p>
        </p:txBody>
      </p:sp>
      <p:sp>
        <p:nvSpPr>
          <p:cNvPr id="4" name="Shape 2"/>
          <p:cNvSpPr/>
          <p:nvPr/>
        </p:nvSpPr>
        <p:spPr>
          <a:xfrm>
            <a:off x="640080" y="1828800"/>
            <a:ext cx="109728" cy="868680"/>
          </a:xfrm>
          <a:prstGeom prst="rect">
            <a:avLst/>
          </a:prstGeom>
          <a:solidFill>
            <a:srgbClr val="E8A93A"/>
          </a:solidFill>
          <a:ln/>
        </p:spPr>
      </p:sp>
      <p:sp>
        <p:nvSpPr>
          <p:cNvPr id="5" name="Text 3"/>
          <p:cNvSpPr txBox="1"/>
          <p:nvPr/>
        </p:nvSpPr>
        <p:spPr>
          <a:xfrm>
            <a:off x="914400" y="1783080"/>
            <a:ext cx="10332720" cy="365760"/>
          </a:xfrm>
          <a:prstGeom prst="rect">
            <a:avLst/>
          </a:prstGeom>
          <a:noFill/>
          <a:ln/>
        </p:spPr>
        <p:txBody>
          <a:bodyPr wrap="square" lIns="0" tIns="0" rIns="0" bIns="0" rtlCol="0" anchor="ctr"/>
          <a:lstStyle/>
          <a:p>
            <a:pPr indent="0" marL="0">
              <a:buNone/>
            </a:pPr>
            <a:r>
              <a:rPr lang="en-US" sz="1550" b="1" dirty="0">
                <a:solidFill>
                  <a:srgbClr val="1A2332"/>
                </a:solidFill>
                <a:latin typeface="Calibri" pitchFamily="34" charset="0"/>
                <a:ea typeface="Calibri" pitchFamily="34" charset="-122"/>
                <a:cs typeface="Calibri" pitchFamily="34" charset="-120"/>
              </a:rPr>
              <a:t>Power is the binding constraint</a:t>
            </a:r>
            <a:endParaRPr lang="en-US" sz="1550" dirty="0"/>
          </a:p>
        </p:txBody>
      </p:sp>
      <p:sp>
        <p:nvSpPr>
          <p:cNvPr id="6" name="Text 4"/>
          <p:cNvSpPr txBox="1"/>
          <p:nvPr/>
        </p:nvSpPr>
        <p:spPr>
          <a:xfrm>
            <a:off x="914400" y="2148840"/>
            <a:ext cx="10424160" cy="640080"/>
          </a:xfrm>
          <a:prstGeom prst="rect">
            <a:avLst/>
          </a:prstGeom>
          <a:noFill/>
          <a:ln/>
        </p:spPr>
        <p:txBody>
          <a:bodyPr wrap="square" lIns="0" tIns="0" rIns="0" bIns="0" rtlCol="0" anchor="ctr"/>
          <a:lstStyle/>
          <a:p>
            <a:pPr indent="0" marL="0">
              <a:lnSpc>
                <a:spcPct val="112000"/>
              </a:lnSpc>
              <a:buNone/>
            </a:pPr>
            <a:r>
              <a:rPr lang="en-US" sz="1300" dirty="0">
                <a:solidFill>
                  <a:srgbClr val="5A6B7B"/>
                </a:solidFill>
                <a:latin typeface="Calibri" pitchFamily="34" charset="0"/>
                <a:ea typeface="Calibri" pitchFamily="34" charset="-122"/>
                <a:cs typeface="Calibri" pitchFamily="34" charset="-120"/>
              </a:rPr>
              <a:t>60 months and 8 selected members cannot resolve a plausible 2–3%/yr alpha. Most results are better called underpowered than null.</a:t>
            </a:r>
            <a:endParaRPr lang="en-US" sz="1300" dirty="0"/>
          </a:p>
        </p:txBody>
      </p:sp>
      <p:sp>
        <p:nvSpPr>
          <p:cNvPr id="7" name="Shape 5"/>
          <p:cNvSpPr/>
          <p:nvPr/>
        </p:nvSpPr>
        <p:spPr>
          <a:xfrm>
            <a:off x="640080" y="2926080"/>
            <a:ext cx="109728" cy="868680"/>
          </a:xfrm>
          <a:prstGeom prst="rect">
            <a:avLst/>
          </a:prstGeom>
          <a:solidFill>
            <a:srgbClr val="E2574C"/>
          </a:solidFill>
          <a:ln/>
        </p:spPr>
      </p:sp>
      <p:sp>
        <p:nvSpPr>
          <p:cNvPr id="8" name="Text 6"/>
          <p:cNvSpPr txBox="1"/>
          <p:nvPr/>
        </p:nvSpPr>
        <p:spPr>
          <a:xfrm>
            <a:off x="914400" y="2880360"/>
            <a:ext cx="10332720" cy="365760"/>
          </a:xfrm>
          <a:prstGeom prst="rect">
            <a:avLst/>
          </a:prstGeom>
          <a:noFill/>
          <a:ln/>
        </p:spPr>
        <p:txBody>
          <a:bodyPr wrap="square" lIns="0" tIns="0" rIns="0" bIns="0" rtlCol="0" anchor="ctr"/>
          <a:lstStyle/>
          <a:p>
            <a:pPr indent="0" marL="0">
              <a:buNone/>
            </a:pPr>
            <a:r>
              <a:rPr lang="en-US" sz="1550" b="1" dirty="0">
                <a:solidFill>
                  <a:srgbClr val="1A2332"/>
                </a:solidFill>
                <a:latin typeface="Calibri" pitchFamily="34" charset="0"/>
                <a:ea typeface="Calibri" pitchFamily="34" charset="-122"/>
                <a:cs typeface="Calibri" pitchFamily="34" charset="-120"/>
              </a:rPr>
              <a:t>Delisting bias — and it isn’t neutral</a:t>
            </a:r>
            <a:endParaRPr lang="en-US" sz="1550" dirty="0"/>
          </a:p>
        </p:txBody>
      </p:sp>
      <p:sp>
        <p:nvSpPr>
          <p:cNvPr id="9" name="Text 7"/>
          <p:cNvSpPr txBox="1"/>
          <p:nvPr/>
        </p:nvSpPr>
        <p:spPr>
          <a:xfrm>
            <a:off x="914400" y="3246120"/>
            <a:ext cx="10424160" cy="640080"/>
          </a:xfrm>
          <a:prstGeom prst="rect">
            <a:avLst/>
          </a:prstGeom>
          <a:noFill/>
          <a:ln/>
        </p:spPr>
        <p:txBody>
          <a:bodyPr wrap="square" lIns="0" tIns="0" rIns="0" bIns="0" rtlCol="0" anchor="ctr"/>
          <a:lstStyle/>
          <a:p>
            <a:pPr indent="0" marL="0">
              <a:lnSpc>
                <a:spcPct val="112000"/>
              </a:lnSpc>
              <a:buNone/>
            </a:pPr>
            <a:r>
              <a:rPr lang="en-US" sz="1300" dirty="0">
                <a:solidFill>
                  <a:srgbClr val="5A6B7B"/>
                </a:solidFill>
                <a:latin typeface="Calibri" pitchFamily="34" charset="0"/>
                <a:ea typeface="Calibri" pitchFamily="34" charset="-122"/>
                <a:cs typeface="Calibri" pitchFamily="34" charset="-120"/>
              </a:rPr>
              <a:t>617 tickers (10.5% of in-span trades) have no price history, mostly acquisition targets that jump on announcement. This likely understates returns — it works against the null, which survives only because the CIs are so wide.</a:t>
            </a:r>
            <a:endParaRPr lang="en-US" sz="1300" dirty="0"/>
          </a:p>
        </p:txBody>
      </p:sp>
      <p:sp>
        <p:nvSpPr>
          <p:cNvPr id="10" name="Shape 8"/>
          <p:cNvSpPr/>
          <p:nvPr/>
        </p:nvSpPr>
        <p:spPr>
          <a:xfrm>
            <a:off x="640080" y="4023360"/>
            <a:ext cx="109728" cy="868680"/>
          </a:xfrm>
          <a:prstGeom prst="rect">
            <a:avLst/>
          </a:prstGeom>
          <a:solidFill>
            <a:srgbClr val="5A6B7B"/>
          </a:solidFill>
          <a:ln/>
        </p:spPr>
      </p:sp>
      <p:sp>
        <p:nvSpPr>
          <p:cNvPr id="11" name="Text 9"/>
          <p:cNvSpPr txBox="1"/>
          <p:nvPr/>
        </p:nvSpPr>
        <p:spPr>
          <a:xfrm>
            <a:off x="914400" y="3977640"/>
            <a:ext cx="10332720" cy="365760"/>
          </a:xfrm>
          <a:prstGeom prst="rect">
            <a:avLst/>
          </a:prstGeom>
          <a:noFill/>
          <a:ln/>
        </p:spPr>
        <p:txBody>
          <a:bodyPr wrap="square" lIns="0" tIns="0" rIns="0" bIns="0" rtlCol="0" anchor="ctr"/>
          <a:lstStyle/>
          <a:p>
            <a:pPr indent="0" marL="0">
              <a:buNone/>
            </a:pPr>
            <a:r>
              <a:rPr lang="en-US" sz="1550" b="1" dirty="0">
                <a:solidFill>
                  <a:srgbClr val="1A2332"/>
                </a:solidFill>
                <a:latin typeface="Calibri" pitchFamily="34" charset="0"/>
                <a:ea typeface="Calibri" pitchFamily="34" charset="-122"/>
                <a:cs typeface="Calibri" pitchFamily="34" charset="-120"/>
              </a:rPr>
              <a:t>Ranges, not amounts</a:t>
            </a:r>
            <a:endParaRPr lang="en-US" sz="1550" dirty="0"/>
          </a:p>
        </p:txBody>
      </p:sp>
      <p:sp>
        <p:nvSpPr>
          <p:cNvPr id="12" name="Text 10"/>
          <p:cNvSpPr txBox="1"/>
          <p:nvPr/>
        </p:nvSpPr>
        <p:spPr>
          <a:xfrm>
            <a:off x="914400" y="4343400"/>
            <a:ext cx="10424160" cy="640080"/>
          </a:xfrm>
          <a:prstGeom prst="rect">
            <a:avLst/>
          </a:prstGeom>
          <a:noFill/>
          <a:ln/>
        </p:spPr>
        <p:txBody>
          <a:bodyPr wrap="square" lIns="0" tIns="0" rIns="0" bIns="0" rtlCol="0" anchor="ctr"/>
          <a:lstStyle/>
          <a:p>
            <a:pPr indent="0" marL="0">
              <a:lnSpc>
                <a:spcPct val="112000"/>
              </a:lnSpc>
              <a:buNone/>
            </a:pPr>
            <a:r>
              <a:rPr lang="en-US" sz="1300" dirty="0">
                <a:solidFill>
                  <a:srgbClr val="5A6B7B"/>
                </a:solidFill>
                <a:latin typeface="Calibri" pitchFamily="34" charset="0"/>
                <a:ea typeface="Calibri" pitchFamily="34" charset="-122"/>
                <a:cs typeface="Calibri" pitchFamily="34" charset="-120"/>
              </a:rPr>
              <a:t>Disclosed sizes are ranges, so size-weighting leans on noisy midpoints. Equal-weight is the default for that reason.</a:t>
            </a:r>
            <a:endParaRPr lang="en-US" sz="1300" dirty="0"/>
          </a:p>
        </p:txBody>
      </p:sp>
      <p:sp>
        <p:nvSpPr>
          <p:cNvPr id="13" name="Shape 11"/>
          <p:cNvSpPr/>
          <p:nvPr/>
        </p:nvSpPr>
        <p:spPr>
          <a:xfrm>
            <a:off x="640080" y="5120640"/>
            <a:ext cx="109728" cy="868680"/>
          </a:xfrm>
          <a:prstGeom prst="rect">
            <a:avLst/>
          </a:prstGeom>
          <a:solidFill>
            <a:srgbClr val="5A6B7B"/>
          </a:solidFill>
          <a:ln/>
        </p:spPr>
      </p:sp>
      <p:sp>
        <p:nvSpPr>
          <p:cNvPr id="14" name="Text 12"/>
          <p:cNvSpPr txBox="1"/>
          <p:nvPr/>
        </p:nvSpPr>
        <p:spPr>
          <a:xfrm>
            <a:off x="914400" y="5074920"/>
            <a:ext cx="10332720" cy="365760"/>
          </a:xfrm>
          <a:prstGeom prst="rect">
            <a:avLst/>
          </a:prstGeom>
          <a:noFill/>
          <a:ln/>
        </p:spPr>
        <p:txBody>
          <a:bodyPr wrap="square" lIns="0" tIns="0" rIns="0" bIns="0" rtlCol="0" anchor="ctr"/>
          <a:lstStyle/>
          <a:p>
            <a:pPr indent="0" marL="0">
              <a:buNone/>
            </a:pPr>
            <a:r>
              <a:rPr lang="en-US" sz="1550" b="1" dirty="0">
                <a:solidFill>
                  <a:srgbClr val="1A2332"/>
                </a:solidFill>
                <a:latin typeface="Calibri" pitchFamily="34" charset="0"/>
                <a:ea typeface="Calibri" pitchFamily="34" charset="-122"/>
                <a:cs typeface="Calibri" pitchFamily="34" charset="-120"/>
              </a:rPr>
              <a:t>The sector map is author-defined</a:t>
            </a:r>
            <a:endParaRPr lang="en-US" sz="1550" dirty="0"/>
          </a:p>
        </p:txBody>
      </p:sp>
      <p:sp>
        <p:nvSpPr>
          <p:cNvPr id="15" name="Text 13"/>
          <p:cNvSpPr txBox="1"/>
          <p:nvPr/>
        </p:nvSpPr>
        <p:spPr>
          <a:xfrm>
            <a:off x="914400" y="5440680"/>
            <a:ext cx="10424160" cy="640080"/>
          </a:xfrm>
          <a:prstGeom prst="rect">
            <a:avLst/>
          </a:prstGeom>
          <a:noFill/>
          <a:ln/>
        </p:spPr>
        <p:txBody>
          <a:bodyPr wrap="square" lIns="0" tIns="0" rIns="0" bIns="0" rtlCol="0" anchor="ctr"/>
          <a:lstStyle/>
          <a:p>
            <a:pPr indent="0" marL="0">
              <a:lnSpc>
                <a:spcPct val="112000"/>
              </a:lnSpc>
              <a:buNone/>
            </a:pPr>
            <a:r>
              <a:rPr lang="en-US" sz="1300" dirty="0">
                <a:solidFill>
                  <a:srgbClr val="5A6B7B"/>
                </a:solidFill>
                <a:latin typeface="Calibri" pitchFamily="34" charset="0"/>
                <a:ea typeface="Calibri" pitchFamily="34" charset="-122"/>
                <a:cs typeface="Calibri" pitchFamily="34" charset="-120"/>
              </a:rPr>
              <a:t>No dataset exists for committee→sector; every row carries a written oversight rationale, and the map-robustness variants (−3.6% to −5.4%) exist because it is a judgement call.</a:t>
            </a:r>
            <a:endParaRPr lang="en-US" sz="1300" dirty="0"/>
          </a:p>
        </p:txBody>
      </p:sp>
      <p:sp>
        <p:nvSpPr>
          <p:cNvPr id="16" name="Text 14"/>
          <p:cNvSpPr txBox="1"/>
          <p:nvPr/>
        </p:nvSpPr>
        <p:spPr>
          <a:xfrm>
            <a:off x="11505895" y="6400800"/>
            <a:ext cx="457200" cy="27432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1554480" y="3566160"/>
            <a:ext cx="4480560" cy="4480560"/>
          </a:xfrm>
          <a:prstGeom prst="ellipse">
            <a:avLst/>
          </a:prstGeom>
          <a:solidFill>
            <a:srgbClr val="1B3A5F"/>
          </a:solidFill>
          <a:ln/>
        </p:spPr>
      </p:sp>
      <p:sp>
        <p:nvSpPr>
          <p:cNvPr id="3" name="Shape 1"/>
          <p:cNvSpPr/>
          <p:nvPr/>
        </p:nvSpPr>
        <p:spPr>
          <a:xfrm>
            <a:off x="10149840" y="-1463040"/>
            <a:ext cx="3931920" cy="3931920"/>
          </a:xfrm>
          <a:prstGeom prst="ellipse">
            <a:avLst/>
          </a:prstGeom>
          <a:solidFill>
            <a:srgbClr val="22344A"/>
          </a:solidFill>
          <a:ln/>
        </p:spPr>
      </p:sp>
      <p:sp>
        <p:nvSpPr>
          <p:cNvPr id="4" name="Text 2"/>
          <p:cNvSpPr txBox="1"/>
          <p:nvPr/>
        </p:nvSpPr>
        <p:spPr>
          <a:xfrm>
            <a:off x="640080" y="502920"/>
            <a:ext cx="10515600" cy="274320"/>
          </a:xfrm>
          <a:prstGeom prst="rect">
            <a:avLst/>
          </a:prstGeom>
          <a:noFill/>
          <a:ln/>
        </p:spPr>
        <p:txBody>
          <a:bodyPr wrap="square" lIns="0" tIns="0" rIns="0" bIns="0" rtlCol="0" anchor="ctr"/>
          <a:lstStyle/>
          <a:p>
            <a:pPr indent="0" marL="0">
              <a:buNone/>
            </a:pPr>
            <a:r>
              <a:rPr lang="en-US" sz="1200" b="1" spc="200" kern="0" dirty="0">
                <a:solidFill>
                  <a:srgbClr val="E8A93A"/>
                </a:solidFill>
                <a:latin typeface="Calibri" pitchFamily="34" charset="0"/>
                <a:ea typeface="Calibri" pitchFamily="34" charset="-122"/>
                <a:cs typeface="Calibri" pitchFamily="34" charset="-120"/>
              </a:rPr>
              <a:t>CONCLUSION</a:t>
            </a:r>
            <a:endParaRPr lang="en-US" sz="1200" dirty="0"/>
          </a:p>
        </p:txBody>
      </p:sp>
      <p:sp>
        <p:nvSpPr>
          <p:cNvPr id="5" name="Text 3"/>
          <p:cNvSpPr txBox="1"/>
          <p:nvPr/>
        </p:nvSpPr>
        <p:spPr>
          <a:xfrm>
            <a:off x="822960" y="178308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entury Schoolbook" pitchFamily="34" charset="0"/>
                <a:ea typeface="Century Schoolbook" pitchFamily="34" charset="-122"/>
                <a:cs typeface="Century Schoolbook" pitchFamily="34" charset="-120"/>
              </a:rPr>
              <a:t>The market was the ride. No </a:t>
            </a:r>
            <a:pPr indent="0" marL="0">
              <a:buNone/>
            </a:pPr>
            <a:r>
              <a:rPr lang="en-US" sz="3800" b="1" i="1" dirty="0">
                <a:solidFill>
                  <a:srgbClr val="E8A93A"/>
                </a:solidFill>
                <a:latin typeface="Century Schoolbook" pitchFamily="34" charset="0"/>
                <a:ea typeface="Century Schoolbook" pitchFamily="34" charset="-122"/>
                <a:cs typeface="Century Schoolbook" pitchFamily="34" charset="-120"/>
              </a:rPr>
              <a:t>Alpha</a:t>
            </a:r>
            <a:pPr indent="0" marL="0">
              <a:buNone/>
            </a:pPr>
            <a:r>
              <a:rPr lang="en-US" sz="3800" b="1" dirty="0">
                <a:solidFill>
                  <a:srgbClr val="FFFFFF"/>
                </a:solidFill>
                <a:latin typeface="Century Schoolbook" pitchFamily="34" charset="0"/>
                <a:ea typeface="Century Schoolbook" pitchFamily="34" charset="-122"/>
                <a:cs typeface="Century Schoolbook" pitchFamily="34" charset="-120"/>
              </a:rPr>
              <a:t> survived it.</a:t>
            </a:r>
            <a:endParaRPr lang="en-US" sz="3800" dirty="0"/>
          </a:p>
        </p:txBody>
      </p:sp>
      <p:sp>
        <p:nvSpPr>
          <p:cNvPr id="6" name="Text 4"/>
          <p:cNvSpPr txBox="1"/>
          <p:nvPr/>
        </p:nvSpPr>
        <p:spPr>
          <a:xfrm>
            <a:off x="822960" y="3017520"/>
            <a:ext cx="10058400" cy="1371600"/>
          </a:xfrm>
          <a:prstGeom prst="rect">
            <a:avLst/>
          </a:prstGeom>
          <a:noFill/>
          <a:ln/>
        </p:spPr>
        <p:txBody>
          <a:bodyPr wrap="square" lIns="0" tIns="0" rIns="0" bIns="0" rtlCol="0" anchor="ctr"/>
          <a:lstStyle/>
          <a:p>
            <a:pPr indent="0" marL="0">
              <a:lnSpc>
                <a:spcPct val="122000"/>
              </a:lnSpc>
              <a:buNone/>
            </a:pPr>
            <a:r>
              <a:rPr lang="en-US" sz="1600" dirty="0">
                <a:solidFill>
                  <a:srgbClr val="CADCFC"/>
                </a:solidFill>
                <a:latin typeface="Calibri" pitchFamily="34" charset="0"/>
                <a:ea typeface="Calibri" pitchFamily="34" charset="-122"/>
                <a:cs typeface="Calibri" pitchFamily="34" charset="-120"/>
              </a:rPr>
              <a:t>Neither selecting on past performance nor on committee oversight produced detectable risk-adjusted alpha out-of-sample. Track A’s positive estimate isn’t significant, reverses sign under other split dates, and vanishes once the market is hedged. Track B is negative throughout and survives every sector-map variant.</a:t>
            </a:r>
            <a:endParaRPr lang="en-US" sz="1600" dirty="0"/>
          </a:p>
        </p:txBody>
      </p:sp>
      <p:sp>
        <p:nvSpPr>
          <p:cNvPr id="7" name="Text 5"/>
          <p:cNvSpPr txBox="1"/>
          <p:nvPr/>
        </p:nvSpPr>
        <p:spPr>
          <a:xfrm>
            <a:off x="822960" y="4617720"/>
            <a:ext cx="10058400" cy="1463040"/>
          </a:xfrm>
          <a:prstGeom prst="rect">
            <a:avLst/>
          </a:prstGeom>
          <a:noFill/>
          <a:ln/>
        </p:spPr>
        <p:txBody>
          <a:bodyPr wrap="square" lIns="0" tIns="0" rIns="0" bIns="0" rtlCol="0" anchor="ctr"/>
          <a:lstStyle/>
          <a:p>
            <a:pPr indent="0" marL="0">
              <a:lnSpc>
                <a:spcPct val="122000"/>
              </a:lnSpc>
              <a:buNone/>
            </a:pPr>
            <a:r>
              <a:rPr lang="en-US" sz="1450" b="1" dirty="0">
                <a:solidFill>
                  <a:srgbClr val="FFFFFF"/>
                </a:solidFill>
                <a:latin typeface="Calibri" pitchFamily="34" charset="0"/>
                <a:ea typeface="Calibri" pitchFamily="34" charset="-122"/>
                <a:cs typeface="Calibri" pitchFamily="34" charset="-120"/>
              </a:rPr>
              <a:t>The defensible claim: </a:t>
            </a:r>
            <a:pPr indent="0" marL="0">
              <a:lnSpc>
                <a:spcPct val="122000"/>
              </a:lnSpc>
              <a:buNone/>
            </a:pPr>
            <a:r>
              <a:rPr lang="en-US" sz="1450" dirty="0">
                <a:solidFill>
                  <a:srgbClr val="9FB8D0"/>
                </a:solidFill>
                <a:latin typeface="Calibri" pitchFamily="34" charset="0"/>
                <a:ea typeface="Calibri" pitchFamily="34" charset="-122"/>
                <a:cs typeface="Calibri" pitchFamily="34" charset="-120"/>
              </a:rPr>
              <a:t>not “members have no skill” — this design lacks the power for that — but that on trades entered when the public could have entered them, there is no evidence of returns the market cannot explain. The information advantage, if it exists, does not survive the disclosure lag.</a:t>
            </a:r>
            <a:endParaRPr lang="en-US" sz="1450" dirty="0"/>
          </a:p>
        </p:txBody>
      </p:sp>
      <p:sp>
        <p:nvSpPr>
          <p:cNvPr id="8" name="Text 6"/>
          <p:cNvSpPr txBox="1"/>
          <p:nvPr/>
        </p:nvSpPr>
        <p:spPr>
          <a:xfrm>
            <a:off x="11505895" y="6400800"/>
            <a:ext cx="457200" cy="274320"/>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2026-09-14T16:28:03Z</dcterms:created>
  <dcterms:modified xsi:type="dcterms:W3CDTF">2026-09-14T16:28:03Z</dcterms:modified>
</cp:coreProperties>
</file>