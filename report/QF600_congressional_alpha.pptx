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F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2F4E6F"/>
                </a:solidFill>
                <a:latin typeface="Consolas"/>
              </a:rPr>
              <a:t>QF600 · ASSET PRICING · EMPIRICAL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286000"/>
            <a:ext cx="105156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4400" b="1" i="0">
                <a:solidFill>
                  <a:srgbClr val="131721"/>
                </a:solidFill>
                <a:latin typeface="Georgia"/>
              </a:rPr>
              <a:t>Do Congressional Traders Generate
Risk-Adjusted Alpha?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886200"/>
            <a:ext cx="95097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 i="0">
                <a:solidFill>
                  <a:srgbClr val="626C7E"/>
                </a:solidFill>
                <a:latin typeface="Calibri"/>
              </a:rPr>
              <a:t>Two independent selection hypotheses, tested out-of-sample on 33,522 disclosed trades.
Neither survives the market factor.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4892040"/>
            <a:ext cx="2011680" cy="19050"/>
          </a:xfrm>
          <a:prstGeom prst="rect">
            <a:avLst/>
          </a:prstGeom>
          <a:solidFill>
            <a:srgbClr val="2F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512064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8A93A3"/>
                </a:solidFill>
                <a:latin typeface="Consolas"/>
              </a:rPr>
              <a:t>Evaluation window 2020-01 → 2024-12   ·   N = 60 months   ·   CAPM &amp; Carhart 4-factor, Newey–West HAC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2F4E6F"/>
                </a:solidFill>
                <a:latin typeface="Consolas"/>
              </a:rPr>
              <a:t>THE QUESTION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8813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131721"/>
                </a:solidFill>
                <a:latin typeface="Georgia"/>
              </a:rPr>
              <a:t>Beating the market is not the same as alpha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81328"/>
            <a:ext cx="10908792" cy="9525"/>
          </a:xfrm>
          <a:prstGeom prst="rect">
            <a:avLst/>
          </a:prstGeom>
          <a:solidFill>
            <a:srgbClr val="DCE0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50" b="0" i="0">
                <a:solidFill>
                  <a:srgbClr val="8A93A3"/>
                </a:solidFill>
                <a:latin typeface="Consolas"/>
              </a:rPr>
              <a:t>QF600 · Congressional trading alpha ·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1088136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 i="0">
                <a:solidFill>
                  <a:srgbClr val="131721"/>
                </a:solidFill>
                <a:latin typeface="Georgia"/>
              </a:rPr>
              <a:t>In 2020–2024 almost everything went up.</a:t>
            </a:r>
          </a:p>
          <a:p>
            <a:pPr algn="l">
              <a:spcAft>
                <a:spcPts val="1300"/>
              </a:spcAft>
            </a:pPr>
            <a:r>
              <a:rPr sz="1300" b="0" i="0">
                <a:solidFill>
                  <a:srgbClr val="626C7E"/>
                </a:solidFill>
                <a:latin typeface="Calibri"/>
              </a:rPr>
              <a:t>The question is not whether a member's portfolio rose. It is whether any group earned a return the market factor cannot explain — that is what α measures.</a:t>
            </a:r>
          </a:p>
          <a:p>
            <a:pPr algn="l">
              <a:spcAft>
                <a:spcPts val="300"/>
              </a:spcAft>
            </a:pPr>
            <a:r>
              <a:rPr sz="1600" b="1" i="0">
                <a:solidFill>
                  <a:srgbClr val="131721"/>
                </a:solidFill>
                <a:latin typeface="Georgia"/>
              </a:rPr>
              <a:t>Track A — performance selection.</a:t>
            </a:r>
          </a:p>
          <a:p>
            <a:pPr algn="l">
              <a:spcAft>
                <a:spcPts val="1300"/>
              </a:spcAft>
            </a:pPr>
            <a:r>
              <a:rPr sz="1300" b="0" i="0">
                <a:solidFill>
                  <a:srgbClr val="626C7E"/>
                </a:solidFill>
                <a:latin typeface="Calibri"/>
              </a:rPr>
              <a:t>Rank members on trading performance in a formation window (2014–2019); test the top quartile in 2020–2024. Asks whether past winners PERSIST — the difference between skill and luck.</a:t>
            </a:r>
          </a:p>
          <a:p>
            <a:pPr algn="l">
              <a:spcAft>
                <a:spcPts val="300"/>
              </a:spcAft>
            </a:pPr>
            <a:r>
              <a:rPr sz="1600" b="1" i="0">
                <a:solidFill>
                  <a:srgbClr val="131721"/>
                </a:solidFill>
                <a:latin typeface="Georgia"/>
              </a:rPr>
              <a:t>Track B — committee oversight.</a:t>
            </a:r>
          </a:p>
          <a:p>
            <a:pPr algn="l">
              <a:spcAft>
                <a:spcPts val="1300"/>
              </a:spcAft>
            </a:pPr>
            <a:r>
              <a:rPr sz="1300" b="0" i="0">
                <a:solidFill>
                  <a:srgbClr val="626C7E"/>
                </a:solidFill>
                <a:latin typeface="Calibri"/>
              </a:rPr>
              <a:t>Select members by an ex-ante characteristic — which committee they sat on — and test them only in the sectors that committee regulates. Selection never touches returns, so this group cannot have been chosen for being lucky.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62356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1">
                <a:solidFill>
                  <a:srgbClr val="626C7E"/>
                </a:solidFill>
                <a:latin typeface="Calibri"/>
              </a:rPr>
              <a:t>Both tracks share one holding-period construction and one regression specification, and both are reported in full.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2F4E6F"/>
                </a:solidFill>
                <a:latin typeface="Consolas"/>
              </a:rPr>
              <a:t>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8813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131721"/>
                </a:solidFill>
                <a:latin typeface="Georgia"/>
              </a:rPr>
              <a:t>Four rules, enforced in code — not by good intentions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81328"/>
            <a:ext cx="10908792" cy="9525"/>
          </a:xfrm>
          <a:prstGeom prst="rect">
            <a:avLst/>
          </a:prstGeom>
          <a:solidFill>
            <a:srgbClr val="DCE0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50" b="0" i="0">
                <a:solidFill>
                  <a:srgbClr val="8A93A3"/>
                </a:solidFill>
                <a:latin typeface="Consolas"/>
              </a:rPr>
              <a:t>QF600 · Congressional trading alpha · 2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2514600" cy="32004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2514600" cy="54864"/>
          </a:xfrm>
          <a:prstGeom prst="rect">
            <a:avLst/>
          </a:prstGeom>
          <a:solidFill>
            <a:srgbClr val="2F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2103120"/>
            <a:ext cx="210312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 i="0">
                <a:solidFill>
                  <a:srgbClr val="2F4E6F"/>
                </a:solidFill>
                <a:latin typeface="Consolas"/>
              </a:rPr>
              <a:t>01</a:t>
            </a:r>
          </a:p>
          <a:p>
            <a:pPr algn="l">
              <a:spcAft>
                <a:spcPts val="800"/>
              </a:spcAft>
            </a:pPr>
            <a:r>
              <a:rPr sz="1550" b="1" i="0">
                <a:solidFill>
                  <a:srgbClr val="131721"/>
                </a:solidFill>
                <a:latin typeface="Georgia"/>
              </a:rPr>
              <a:t>Enter on the disclosure date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626C7E"/>
                </a:solidFill>
                <a:latin typeface="Calibri"/>
              </a:rPr>
              <a:t>Filings lag the trade by a median of 29 days — 438 at the 95th percentile. Trade-date entry credits a price move that was neither public nor investable.</a:t>
            </a:r>
          </a:p>
        </p:txBody>
      </p:sp>
      <p:sp>
        <p:nvSpPr>
          <p:cNvPr id="9" name="Rectangle 8"/>
          <p:cNvSpPr/>
          <p:nvPr/>
        </p:nvSpPr>
        <p:spPr>
          <a:xfrm>
            <a:off x="3429000" y="1828800"/>
            <a:ext cx="2514600" cy="32004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29000" y="1828800"/>
            <a:ext cx="2514600" cy="54864"/>
          </a:xfrm>
          <a:prstGeom prst="rect">
            <a:avLst/>
          </a:prstGeom>
          <a:solidFill>
            <a:srgbClr val="2F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30168" y="2103120"/>
            <a:ext cx="210312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 i="0">
                <a:solidFill>
                  <a:srgbClr val="2F4E6F"/>
                </a:solidFill>
                <a:latin typeface="Consolas"/>
              </a:rPr>
              <a:t>02</a:t>
            </a:r>
          </a:p>
          <a:p>
            <a:pPr algn="l">
              <a:spcAft>
                <a:spcPts val="800"/>
              </a:spcAft>
            </a:pPr>
            <a:r>
              <a:rPr sz="1550" b="1" i="0">
                <a:solidFill>
                  <a:srgbClr val="131721"/>
                </a:solidFill>
                <a:latin typeface="Georgia"/>
              </a:rPr>
              <a:t>Quarantine selection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626C7E"/>
                </a:solidFill>
                <a:latin typeface="Calibri"/>
              </a:rPr>
              <a:t>Track A ranks on formation months only. A hard assertion fails the run if an evaluation month leaks in; validation re-derives the group independently.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828800"/>
            <a:ext cx="2514600" cy="32004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828800"/>
            <a:ext cx="2514600" cy="54864"/>
          </a:xfrm>
          <a:prstGeom prst="rect">
            <a:avLst/>
          </a:prstGeom>
          <a:solidFill>
            <a:srgbClr val="2F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8" y="2103120"/>
            <a:ext cx="210312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 i="0">
                <a:solidFill>
                  <a:srgbClr val="2F4E6F"/>
                </a:solidFill>
                <a:latin typeface="Consolas"/>
              </a:rPr>
              <a:t>03</a:t>
            </a:r>
          </a:p>
          <a:p>
            <a:pPr algn="l">
              <a:spcAft>
                <a:spcPts val="800"/>
              </a:spcAft>
            </a:pPr>
            <a:r>
              <a:rPr sz="1550" b="1" i="0">
                <a:solidFill>
                  <a:srgbClr val="131721"/>
                </a:solidFill>
                <a:latin typeface="Georgia"/>
              </a:rPr>
              <a:t>Mechanical exit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626C7E"/>
                </a:solidFill>
                <a:latin typeface="Calibri"/>
              </a:rPr>
              <a:t>Positions exit exactly 12 months after entry — a fixed function of entry, so it cannot encode what the price did next.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06840" y="1828800"/>
            <a:ext cx="2514600" cy="32004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006840" y="1828800"/>
            <a:ext cx="2514600" cy="54864"/>
          </a:xfrm>
          <a:prstGeom prst="rect">
            <a:avLst/>
          </a:prstGeom>
          <a:solidFill>
            <a:srgbClr val="2F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08008" y="2103120"/>
            <a:ext cx="210312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 i="0">
                <a:solidFill>
                  <a:srgbClr val="2F4E6F"/>
                </a:solidFill>
                <a:latin typeface="Consolas"/>
              </a:rPr>
              <a:t>04</a:t>
            </a:r>
          </a:p>
          <a:p>
            <a:pPr algn="l">
              <a:spcAft>
                <a:spcPts val="800"/>
              </a:spcAft>
            </a:pPr>
            <a:r>
              <a:rPr sz="1550" b="1" i="0">
                <a:solidFill>
                  <a:srgbClr val="131721"/>
                </a:solidFill>
                <a:latin typeface="Georgia"/>
              </a:rPr>
              <a:t>Report every variant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626C7E"/>
                </a:solidFill>
                <a:latin typeface="Calibri"/>
              </a:rPr>
              <a:t>Run enough specifications and one crosses t = 2 by chance. The defence is showing all 44, so a starred cell reads against its neighbours.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62356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1">
                <a:solidFill>
                  <a:srgbClr val="626C7E"/>
                </a:solidFill>
                <a:latin typeface="Calibri"/>
              </a:rPr>
              <a:t>One deliberately conservative choice: a filing lands mid-month, so positions earn from the FOLLOWING month. This can only reduce measured alpha, never inflate it.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2F4E6F"/>
                </a:solidFill>
                <a:latin typeface="Consolas"/>
              </a:rPr>
              <a:t>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8813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131721"/>
                </a:solidFill>
                <a:latin typeface="Georgia"/>
              </a:rPr>
              <a:t>From 68,167 disclosures to 33,522 usable trades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81328"/>
            <a:ext cx="10908792" cy="9525"/>
          </a:xfrm>
          <a:prstGeom prst="rect">
            <a:avLst/>
          </a:prstGeom>
          <a:solidFill>
            <a:srgbClr val="DCE0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50" b="0" i="0">
                <a:solidFill>
                  <a:srgbClr val="8A93A3"/>
                </a:solidFill>
                <a:latin typeface="Consolas"/>
              </a:rPr>
              <a:t>QF600 · Congressional trading alpha · 3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828800"/>
          <a:ext cx="6766560" cy="21122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1640"/>
                <a:gridCol w="1691640"/>
                <a:gridCol w="1691640"/>
                <a:gridCol w="1691640"/>
              </a:tblGrid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Filter step</a:t>
                      </a:r>
                    </a:p>
                  </a:txBody>
                  <a:tcPr anchor="ctr" marL="73152" marR="73152" marT="0" marB="0">
                    <a:solidFill>
                      <a:srgbClr val="2F4E6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Rows in</a:t>
                      </a:r>
                    </a:p>
                  </a:txBody>
                  <a:tcPr anchor="ctr" marL="73152" marR="73152" marT="0" marB="0">
                    <a:solidFill>
                      <a:srgbClr val="2F4E6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Rows out</a:t>
                      </a:r>
                    </a:p>
                  </a:txBody>
                  <a:tcPr anchor="ctr" marL="73152" marR="73152" marT="0" marB="0">
                    <a:solidFill>
                      <a:srgbClr val="2F4E6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Dropped</a:t>
                      </a:r>
                    </a:p>
                  </a:txBody>
                  <a:tcPr anchor="ctr" marL="73152" marR="73152" marT="0" marB="0">
                    <a:solidFill>
                      <a:srgbClr val="2F4E6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31721"/>
                          </a:solidFill>
                          <a:latin typeface="Calibri"/>
                        </a:rPr>
                        <a:t>Branch = congress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31721"/>
                          </a:solidFill>
                          <a:latin typeface="Consolas"/>
                        </a:rPr>
                        <a:t>68,167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31721"/>
                          </a:solidFill>
                          <a:latin typeface="Consolas"/>
                        </a:rPr>
                        <a:t>54,396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31721"/>
                          </a:solidFill>
                          <a:latin typeface="Consolas"/>
                        </a:rPr>
                        <a:t>13,771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31721"/>
                          </a:solidFill>
                          <a:latin typeface="Calibri"/>
                        </a:rPr>
                        <a:t>Asset type ∈ {ST, Stock, CS}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31721"/>
                          </a:solidFill>
                          <a:latin typeface="Consolas"/>
                        </a:rPr>
                        <a:t>54,396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31721"/>
                          </a:solidFill>
                          <a:latin typeface="Consolas"/>
                        </a:rPr>
                        <a:t>34,107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31721"/>
                          </a:solidFill>
                          <a:latin typeface="Consolas"/>
                        </a:rPr>
                        <a:t>20,289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31721"/>
                          </a:solidFill>
                          <a:latin typeface="Calibri"/>
                        </a:rPr>
                        <a:t>Directional transactions only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31721"/>
                          </a:solidFill>
                          <a:latin typeface="Consolas"/>
                        </a:rPr>
                        <a:t>34,107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31721"/>
                          </a:solidFill>
                          <a:latin typeface="Consolas"/>
                        </a:rPr>
                        <a:t>33,871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31721"/>
                          </a:solidFill>
                          <a:latin typeface="Consolas"/>
                        </a:rPr>
                        <a:t>236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31721"/>
                          </a:solidFill>
                          <a:latin typeface="Calibri"/>
                        </a:rPr>
                        <a:t>Ticker present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31721"/>
                          </a:solidFill>
                          <a:latin typeface="Consolas"/>
                        </a:rPr>
                        <a:t>33,871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31721"/>
                          </a:solidFill>
                          <a:latin typeface="Consolas"/>
                        </a:rPr>
                        <a:t>33,525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31721"/>
                          </a:solidFill>
                          <a:latin typeface="Consolas"/>
                        </a:rPr>
                        <a:t>346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31721"/>
                          </a:solidFill>
                          <a:latin typeface="Calibri"/>
                        </a:rPr>
                        <a:t>Both dates parse (99.99%)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31721"/>
                          </a:solidFill>
                          <a:latin typeface="Consolas"/>
                        </a:rPr>
                        <a:t>33,525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31721"/>
                          </a:solidFill>
                          <a:latin typeface="Consolas"/>
                        </a:rPr>
                        <a:t>33,522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31721"/>
                          </a:solidFill>
                          <a:latin typeface="Consolas"/>
                        </a:rPr>
                        <a:t>3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31721"/>
                          </a:solidFill>
                          <a:latin typeface="Calibri"/>
                        </a:rPr>
                        <a:t>Filing date ≥ transaction date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31721"/>
                          </a:solidFill>
                          <a:latin typeface="Consolas"/>
                        </a:rPr>
                        <a:t>33,522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31721"/>
                          </a:solidFill>
                          <a:latin typeface="Consolas"/>
                        </a:rPr>
                        <a:t>33,522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31721"/>
                          </a:solidFill>
                          <a:latin typeface="Consolas"/>
                        </a:rPr>
                        <a:t>0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772400" y="1828800"/>
            <a:ext cx="3749039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2F4E6F"/>
                </a:solidFill>
                <a:latin typeface="Consolas"/>
              </a:rPr>
              <a:t>259</a:t>
            </a:r>
          </a:p>
          <a:p>
            <a:pPr algn="l">
              <a:spcAft>
                <a:spcPts val="1600"/>
              </a:spcAft>
            </a:pPr>
            <a:r>
              <a:rPr sz="1250" b="0" i="0">
                <a:solidFill>
                  <a:srgbClr val="626C7E"/>
                </a:solidFill>
                <a:latin typeface="Calibri"/>
              </a:rPr>
              <a:t>members with disclosed trades</a:t>
            </a:r>
          </a:p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2F4E6F"/>
                </a:solidFill>
                <a:latin typeface="Consolas"/>
              </a:rPr>
              <a:t>2,075</a:t>
            </a:r>
          </a:p>
          <a:p>
            <a:pPr algn="l">
              <a:spcAft>
                <a:spcPts val="1600"/>
              </a:spcAft>
            </a:pPr>
            <a:r>
              <a:rPr sz="1250" b="0" i="0">
                <a:solidFill>
                  <a:srgbClr val="626C7E"/>
                </a:solidFill>
                <a:latin typeface="Calibri"/>
              </a:rPr>
              <a:t>tickers with price coverage</a:t>
            </a:r>
          </a:p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2F4E6F"/>
                </a:solidFill>
                <a:latin typeface="Consolas"/>
              </a:rPr>
              <a:t>99.6%</a:t>
            </a:r>
          </a:p>
          <a:p>
            <a:pPr algn="l">
              <a:spcAft>
                <a:spcPts val="1600"/>
              </a:spcAft>
            </a:pPr>
            <a:r>
              <a:rPr sz="1250" b="0" i="0">
                <a:solidFill>
                  <a:srgbClr val="626C7E"/>
                </a:solidFill>
                <a:latin typeface="Calibri"/>
              </a:rPr>
              <a:t>committee name-match rate</a:t>
            </a:r>
          </a:p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2F4E6F"/>
                </a:solidFill>
                <a:latin typeface="Consolas"/>
              </a:rPr>
              <a:t>617</a:t>
            </a:r>
          </a:p>
          <a:p>
            <a:pPr algn="l">
              <a:spcAft>
                <a:spcPts val="1600"/>
              </a:spcAft>
            </a:pPr>
            <a:r>
              <a:rPr sz="1250" b="0" i="0">
                <a:solidFill>
                  <a:srgbClr val="626C7E"/>
                </a:solidFill>
                <a:latin typeface="Calibri"/>
              </a:rPr>
              <a:t>tickers unpriced — 10.5% of trades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1">
                <a:solidFill>
                  <a:srgbClr val="626C7E"/>
                </a:solidFill>
                <a:latin typeface="Calibri"/>
              </a:rPr>
              <a:t>Delisting bias is not neutral: most unpriced names were acquired, and targets typically jump on announcement — so dropping them most likely UNDERSTATES returns.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2F4E6F"/>
                </a:solidFill>
                <a:latin typeface="Consolas"/>
              </a:rPr>
              <a:t>TRACK 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8813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131721"/>
                </a:solidFill>
                <a:latin typeface="Georgia"/>
              </a:rPr>
              <a:t>Who the formation ranking selected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81328"/>
            <a:ext cx="10908792" cy="9525"/>
          </a:xfrm>
          <a:prstGeom prst="rect">
            <a:avLst/>
          </a:prstGeom>
          <a:solidFill>
            <a:srgbClr val="DCE0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50" b="0" i="0">
                <a:solidFill>
                  <a:srgbClr val="8A93A3"/>
                </a:solidFill>
                <a:latin typeface="Consolas"/>
              </a:rPr>
              <a:t>QF600 · Congressional trading alpha · 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828800"/>
          <a:ext cx="6949440" cy="2715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9888"/>
                <a:gridCol w="1389888"/>
                <a:gridCol w="1389888"/>
                <a:gridCol w="1389888"/>
                <a:gridCol w="1389888"/>
              </a:tblGrid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anchor="ctr" marL="73152" marR="73152" marT="0" marB="0">
                    <a:solidFill>
                      <a:srgbClr val="2F4E6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Member</a:t>
                      </a:r>
                    </a:p>
                  </a:txBody>
                  <a:tcPr anchor="ctr" marL="73152" marR="73152" marT="0" marB="0">
                    <a:solidFill>
                      <a:srgbClr val="2F4E6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73152" marR="73152" marT="0" marB="0">
                    <a:solidFill>
                      <a:srgbClr val="2F4E6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Formation α</a:t>
                      </a:r>
                    </a:p>
                  </a:txBody>
                  <a:tcPr anchor="ctr" marL="73152" marR="73152" marT="0" marB="0">
                    <a:solidFill>
                      <a:srgbClr val="2F4E6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Trades</a:t>
                      </a:r>
                    </a:p>
                  </a:txBody>
                  <a:tcPr anchor="ctr" marL="73152" marR="73152" marT="0" marB="0">
                    <a:solidFill>
                      <a:srgbClr val="2F4E6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31721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31721"/>
                          </a:solidFill>
                          <a:latin typeface="Calibri"/>
                        </a:rPr>
                        <a:t>Bradley S. Schneider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31721"/>
                          </a:solidFill>
                          <a:latin typeface="Calibri"/>
                        </a:rPr>
                        <a:t>D-IL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A6FB0"/>
                          </a:solidFill>
                          <a:latin typeface="Consolas"/>
                        </a:rPr>
                        <a:t>+38.2%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31721"/>
                          </a:solidFill>
                          <a:latin typeface="Consolas"/>
                        </a:rPr>
                        <a:t>63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31721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31721"/>
                          </a:solidFill>
                          <a:latin typeface="Calibri"/>
                        </a:rPr>
                        <a:t>Suzan K. DelBene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31721"/>
                          </a:solidFill>
                          <a:latin typeface="Calibri"/>
                        </a:rPr>
                        <a:t>D-WA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A6FB0"/>
                          </a:solidFill>
                          <a:latin typeface="Consolas"/>
                        </a:rPr>
                        <a:t>+28.7%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31721"/>
                          </a:solidFill>
                          <a:latin typeface="Consolas"/>
                        </a:rPr>
                        <a:t>16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31721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31721"/>
                          </a:solidFill>
                          <a:latin typeface="Calibri"/>
                        </a:rPr>
                        <a:t>Lamar Smith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31721"/>
                          </a:solidFill>
                          <a:latin typeface="Calibri"/>
                        </a:rPr>
                        <a:t>R-TX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A6FB0"/>
                          </a:solidFill>
                          <a:latin typeface="Consolas"/>
                        </a:rPr>
                        <a:t>+27.6%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31721"/>
                          </a:solidFill>
                          <a:latin typeface="Consolas"/>
                        </a:rPr>
                        <a:t>41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31721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31721"/>
                          </a:solidFill>
                          <a:latin typeface="Calibri"/>
                        </a:rPr>
                        <a:t>Katherine M. Clark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31721"/>
                          </a:solidFill>
                          <a:latin typeface="Calibri"/>
                        </a:rPr>
                        <a:t>D-MA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A6FB0"/>
                          </a:solidFill>
                          <a:latin typeface="Consolas"/>
                        </a:rPr>
                        <a:t>+23.4%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31721"/>
                          </a:solidFill>
                          <a:latin typeface="Consolas"/>
                        </a:rPr>
                        <a:t>32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31721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31721"/>
                          </a:solidFill>
                          <a:latin typeface="Calibri"/>
                        </a:rPr>
                        <a:t>Alan S. Lowenthal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31721"/>
                          </a:solidFill>
                          <a:latin typeface="Calibri"/>
                        </a:rPr>
                        <a:t>D-CA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A6FB0"/>
                          </a:solidFill>
                          <a:latin typeface="Consolas"/>
                        </a:rPr>
                        <a:t>+21.5%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31721"/>
                          </a:solidFill>
                          <a:latin typeface="Consolas"/>
                        </a:rPr>
                        <a:t>161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31721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31721"/>
                          </a:solidFill>
                          <a:latin typeface="Calibri"/>
                        </a:rPr>
                        <a:t>Bob Gibbs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31721"/>
                          </a:solidFill>
                          <a:latin typeface="Calibri"/>
                        </a:rPr>
                        <a:t>R-OH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A6FB0"/>
                          </a:solidFill>
                          <a:latin typeface="Consolas"/>
                        </a:rPr>
                        <a:t>+18.2%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31721"/>
                          </a:solidFill>
                          <a:latin typeface="Consolas"/>
                        </a:rPr>
                        <a:t>27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31721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31721"/>
                          </a:solidFill>
                          <a:latin typeface="Calibri"/>
                        </a:rPr>
                        <a:t>Pete Sessions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31721"/>
                          </a:solidFill>
                          <a:latin typeface="Calibri"/>
                        </a:rPr>
                        <a:t>R-TX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A6FB0"/>
                          </a:solidFill>
                          <a:latin typeface="Consolas"/>
                        </a:rPr>
                        <a:t>+18.1%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31721"/>
                          </a:solidFill>
                          <a:latin typeface="Consolas"/>
                        </a:rPr>
                        <a:t>18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31721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31721"/>
                          </a:solidFill>
                          <a:latin typeface="Calibri"/>
                        </a:rPr>
                        <a:t>Dwight Evans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31721"/>
                          </a:solidFill>
                          <a:latin typeface="Calibri"/>
                        </a:rPr>
                        <a:t>D-PA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A6FB0"/>
                          </a:solidFill>
                          <a:latin typeface="Consolas"/>
                        </a:rPr>
                        <a:t>+15.7%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31721"/>
                          </a:solidFill>
                          <a:latin typeface="Consolas"/>
                        </a:rPr>
                        <a:t>13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955279" y="1920240"/>
            <a:ext cx="356616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 i="0">
                <a:solidFill>
                  <a:srgbClr val="2F4E6F"/>
                </a:solidFill>
                <a:latin typeface="Consolas"/>
              </a:rPr>
              <a:t>30</a:t>
            </a:r>
          </a:p>
          <a:p>
            <a:pPr algn="l">
              <a:spcAft>
                <a:spcPts val="2000"/>
              </a:spcAft>
            </a:pPr>
            <a:r>
              <a:rPr sz="1300" b="0" i="0">
                <a:solidFill>
                  <a:srgbClr val="626C7E"/>
                </a:solidFill>
                <a:latin typeface="Calibri"/>
              </a:rPr>
              <a:t>members cleared the eligibility floor: ≥10 formation trades AND ≥12 invested months</a:t>
            </a:r>
          </a:p>
          <a:p>
            <a:pPr algn="l">
              <a:spcAft>
                <a:spcPts val="0"/>
              </a:spcAft>
            </a:pPr>
            <a:r>
              <a:rPr sz="3400" b="1" i="0">
                <a:solidFill>
                  <a:srgbClr val="2F4E6F"/>
                </a:solidFill>
                <a:latin typeface="Consolas"/>
              </a:rPr>
              <a:t>8</a:t>
            </a:r>
          </a:p>
          <a:p>
            <a:pPr algn="l">
              <a:spcAft>
                <a:spcPts val="2000"/>
              </a:spcAft>
            </a:pPr>
            <a:r>
              <a:rPr sz="1300" b="0" i="0">
                <a:solidFill>
                  <a:srgbClr val="626C7E"/>
                </a:solidFill>
                <a:latin typeface="Calibri"/>
              </a:rPr>
              <a:t>selected — the top quartile. 5 Democrats, 3 Republicans, all House.</a:t>
            </a:r>
          </a:p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131721"/>
                </a:solidFill>
                <a:latin typeface="Georgia"/>
              </a:rPr>
              <a:t>The formation column is the SELECTION, not a result.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626C7E"/>
                </a:solidFill>
                <a:latin typeface="Calibri"/>
              </a:rPr>
              <a:t>They were picked because those numbers are high. The test is what happened next.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2F4E6F"/>
                </a:solidFill>
                <a:latin typeface="Consolas"/>
              </a:rPr>
              <a:t>TRACK A —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8813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131721"/>
                </a:solidFill>
                <a:latin typeface="Georgia"/>
              </a:rPr>
              <a:t>No detectable alpha out-of-sample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81328"/>
            <a:ext cx="10908792" cy="9525"/>
          </a:xfrm>
          <a:prstGeom prst="rect">
            <a:avLst/>
          </a:prstGeom>
          <a:solidFill>
            <a:srgbClr val="DCE0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50" b="0" i="0">
                <a:solidFill>
                  <a:srgbClr val="8A93A3"/>
                </a:solidFill>
                <a:latin typeface="Consolas"/>
              </a:rPr>
              <a:t>QF600 · Congressional trading alpha · 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874519"/>
          <a:ext cx="10881360" cy="18105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0170"/>
                <a:gridCol w="1360170"/>
                <a:gridCol w="1360170"/>
                <a:gridCol w="1360170"/>
                <a:gridCol w="1360170"/>
                <a:gridCol w="1360170"/>
                <a:gridCol w="1360170"/>
                <a:gridCol w="1360170"/>
              </a:tblGrid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Group / construction</a:t>
                      </a:r>
                    </a:p>
                  </a:txBody>
                  <a:tcPr anchor="ctr" marL="73152" marR="73152" marT="0" marB="0">
                    <a:solidFill>
                      <a:srgbClr val="2F4E6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 anchor="ctr" marL="73152" marR="73152" marT="0" marB="0">
                    <a:solidFill>
                      <a:srgbClr val="2F4E6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α %/yr</a:t>
                      </a:r>
                    </a:p>
                  </a:txBody>
                  <a:tcPr anchor="ctr" marL="73152" marR="73152" marT="0" marB="0">
                    <a:solidFill>
                      <a:srgbClr val="2F4E6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</a:t>
                      </a:r>
                    </a:p>
                  </a:txBody>
                  <a:tcPr anchor="ctr" marL="73152" marR="73152" marT="0" marB="0">
                    <a:solidFill>
                      <a:srgbClr val="2F4E6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95% CI</a:t>
                      </a:r>
                    </a:p>
                  </a:txBody>
                  <a:tcPr anchor="ctr" marL="73152" marR="73152" marT="0" marB="0">
                    <a:solidFill>
                      <a:srgbClr val="2F4E6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β</a:t>
                      </a:r>
                    </a:p>
                  </a:txBody>
                  <a:tcPr anchor="ctr" marL="73152" marR="73152" marT="0" marB="0">
                    <a:solidFill>
                      <a:srgbClr val="2F4E6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R²</a:t>
                      </a:r>
                    </a:p>
                  </a:txBody>
                  <a:tcPr anchor="ctr" marL="73152" marR="73152" marT="0" marB="0">
                    <a:solidFill>
                      <a:srgbClr val="2F4E6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</a:t>
                      </a:r>
                    </a:p>
                  </a:txBody>
                  <a:tcPr anchor="ctr" marL="73152" marR="73152" marT="0" marB="0">
                    <a:solidFill>
                      <a:srgbClr val="2F4E6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31721"/>
                          </a:solidFill>
                          <a:latin typeface="Calibri"/>
                        </a:rPr>
                        <a:t>Selected — long-only</a:t>
                      </a:r>
                    </a:p>
                  </a:txBody>
                  <a:tcPr anchor="ctr" marL="73152" marR="73152" marT="0" marB="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31721"/>
                          </a:solidFill>
                          <a:latin typeface="Calibri"/>
                        </a:rPr>
                        <a:t>CAPM</a:t>
                      </a:r>
                    </a:p>
                  </a:txBody>
                  <a:tcPr anchor="ctr" marL="73152" marR="73152" marT="0" marB="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A6FB0"/>
                          </a:solidFill>
                          <a:latin typeface="Consolas"/>
                        </a:rPr>
                        <a:t>+3.49</a:t>
                      </a:r>
                    </a:p>
                  </a:txBody>
                  <a:tcPr anchor="ctr" marL="73152" marR="73152" marT="0" marB="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31721"/>
                          </a:solidFill>
                          <a:latin typeface="Consolas"/>
                        </a:rPr>
                        <a:t>1.34</a:t>
                      </a:r>
                    </a:p>
                  </a:txBody>
                  <a:tcPr anchor="ctr" marL="73152" marR="73152" marT="0" marB="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31721"/>
                          </a:solidFill>
                          <a:latin typeface="Consolas"/>
                        </a:rPr>
                        <a:t>[−1.6, +8.6]</a:t>
                      </a:r>
                    </a:p>
                  </a:txBody>
                  <a:tcPr anchor="ctr" marL="73152" marR="73152" marT="0" marB="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31721"/>
                          </a:solidFill>
                          <a:latin typeface="Consolas"/>
                        </a:rPr>
                        <a:t>1.03</a:t>
                      </a:r>
                    </a:p>
                  </a:txBody>
                  <a:tcPr anchor="ctr" marL="73152" marR="73152" marT="0" marB="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31721"/>
                          </a:solidFill>
                          <a:latin typeface="Consolas"/>
                        </a:rPr>
                        <a:t>0.90</a:t>
                      </a:r>
                    </a:p>
                  </a:txBody>
                  <a:tcPr anchor="ctr" marL="73152" marR="73152" marT="0" marB="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31721"/>
                          </a:solidFill>
                          <a:latin typeface="Consolas"/>
                        </a:rPr>
                        <a:t>60</a:t>
                      </a:r>
                    </a:p>
                  </a:txBody>
                  <a:tcPr anchor="ctr" marL="73152" marR="73152" marT="0" marB="0">
                    <a:solidFill>
                      <a:srgbClr val="F2F4F7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31721"/>
                          </a:solidFill>
                          <a:latin typeface="Calibri"/>
                        </a:rPr>
                        <a:t>Selected — long-only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31721"/>
                          </a:solidFill>
                          <a:latin typeface="Calibri"/>
                        </a:rPr>
                        <a:t>FF4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A6FB0"/>
                          </a:solidFill>
                          <a:latin typeface="Consolas"/>
                        </a:rPr>
                        <a:t>+3.42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31721"/>
                          </a:solidFill>
                          <a:latin typeface="Consolas"/>
                        </a:rPr>
                        <a:t>1.56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31721"/>
                          </a:solidFill>
                          <a:latin typeface="Consolas"/>
                        </a:rPr>
                        <a:t>[−0.9, +7.7]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31721"/>
                          </a:solidFill>
                          <a:latin typeface="Consolas"/>
                        </a:rPr>
                        <a:t>1.03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31721"/>
                          </a:solidFill>
                          <a:latin typeface="Consolas"/>
                        </a:rPr>
                        <a:t>0.90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31721"/>
                          </a:solidFill>
                          <a:latin typeface="Consolas"/>
                        </a:rPr>
                        <a:t>60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31721"/>
                          </a:solidFill>
                          <a:latin typeface="Calibri"/>
                        </a:rPr>
                        <a:t>Selected — long–short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31721"/>
                          </a:solidFill>
                          <a:latin typeface="Calibri"/>
                        </a:rPr>
                        <a:t>CAPM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B4432E"/>
                          </a:solidFill>
                          <a:latin typeface="Consolas"/>
                        </a:rPr>
                        <a:t>−0.40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B4432E"/>
                          </a:solidFill>
                          <a:latin typeface="Consolas"/>
                        </a:rPr>
                        <a:t>-0.09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31721"/>
                          </a:solidFill>
                          <a:latin typeface="Consolas"/>
                        </a:rPr>
                        <a:t>[−8.8, +8.0]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B4432E"/>
                          </a:solidFill>
                          <a:latin typeface="Consolas"/>
                        </a:rPr>
                        <a:t>-0.18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31721"/>
                          </a:solidFill>
                          <a:latin typeface="Consolas"/>
                        </a:rPr>
                        <a:t>0.09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31721"/>
                          </a:solidFill>
                          <a:latin typeface="Consolas"/>
                        </a:rPr>
                        <a:t>60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31721"/>
                          </a:solidFill>
                          <a:latin typeface="Calibri"/>
                        </a:rPr>
                        <a:t>Eligible pool (all 30)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31721"/>
                          </a:solidFill>
                          <a:latin typeface="Calibri"/>
                        </a:rPr>
                        <a:t>CAPM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B4432E"/>
                          </a:solidFill>
                          <a:latin typeface="Consolas"/>
                        </a:rPr>
                        <a:t>−1.30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B4432E"/>
                          </a:solidFill>
                          <a:latin typeface="Consolas"/>
                        </a:rPr>
                        <a:t>-0.60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31721"/>
                          </a:solidFill>
                          <a:latin typeface="Consolas"/>
                        </a:rPr>
                        <a:t>[−5.5, +2.9]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31721"/>
                          </a:solidFill>
                          <a:latin typeface="Consolas"/>
                        </a:rPr>
                        <a:t>1.00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31721"/>
                          </a:solidFill>
                          <a:latin typeface="Consolas"/>
                        </a:rPr>
                        <a:t>0.95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31721"/>
                          </a:solidFill>
                          <a:latin typeface="Consolas"/>
                        </a:rPr>
                        <a:t>60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31721"/>
                          </a:solidFill>
                          <a:latin typeface="Calibri"/>
                        </a:rPr>
                        <a:t>Rejected (control)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31721"/>
                          </a:solidFill>
                          <a:latin typeface="Calibri"/>
                        </a:rPr>
                        <a:t>CAPM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B4432E"/>
                          </a:solidFill>
                          <a:latin typeface="Consolas"/>
                        </a:rPr>
                        <a:t>−3.38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B4432E"/>
                          </a:solidFill>
                          <a:latin typeface="Consolas"/>
                        </a:rPr>
                        <a:t>-1.26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31721"/>
                          </a:solidFill>
                          <a:latin typeface="Consolas"/>
                        </a:rPr>
                        <a:t>[−8.6, +1.9]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31721"/>
                          </a:solidFill>
                          <a:latin typeface="Consolas"/>
                        </a:rPr>
                        <a:t>0.99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31721"/>
                          </a:solidFill>
                          <a:latin typeface="Consolas"/>
                        </a:rPr>
                        <a:t>0.92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31721"/>
                          </a:solidFill>
                          <a:latin typeface="Consolas"/>
                        </a:rPr>
                        <a:t>60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4114800"/>
            <a:ext cx="1088136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700" b="1" i="0">
                <a:solidFill>
                  <a:srgbClr val="131721"/>
                </a:solidFill>
                <a:latin typeface="Georgia"/>
              </a:rPr>
              <a:t>The confidence interval comfortably contains zero. The honest reading is UNDERPOWERED, not “proven absent”.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626C7E"/>
                </a:solidFill>
                <a:latin typeface="Calibri"/>
              </a:rPr>
              <a:t>Two details matter more than the headline. The control group works — the members the ranking REJECTED did no better. And β = 1.03 with R² = 0.90 means the market explains 90% of this portfolio's variance.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2F4E6F"/>
                </a:solidFill>
                <a:latin typeface="Consolas"/>
              </a:rPr>
              <a:t>TRACK B —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8813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131721"/>
                </a:solidFill>
                <a:latin typeface="Georgia"/>
              </a:rPr>
              <a:t>Oversight confers no measurable edge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81328"/>
            <a:ext cx="10908792" cy="9525"/>
          </a:xfrm>
          <a:prstGeom prst="rect">
            <a:avLst/>
          </a:prstGeom>
          <a:solidFill>
            <a:srgbClr val="DCE0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50" b="0" i="0">
                <a:solidFill>
                  <a:srgbClr val="8A93A3"/>
                </a:solidFill>
                <a:latin typeface="Consolas"/>
              </a:rPr>
              <a:t>QF600 · Congressional trading alpha · 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828800"/>
          <a:ext cx="10881360" cy="2715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13560"/>
                <a:gridCol w="1813560"/>
                <a:gridCol w="1813560"/>
                <a:gridCol w="1813560"/>
                <a:gridCol w="1813560"/>
                <a:gridCol w="1813560"/>
              </a:tblGrid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Committee group</a:t>
                      </a:r>
                    </a:p>
                  </a:txBody>
                  <a:tcPr anchor="ctr" marL="73152" marR="73152" marT="0" marB="0">
                    <a:solidFill>
                      <a:srgbClr val="2F4E6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Sectors tested</a:t>
                      </a:r>
                    </a:p>
                  </a:txBody>
                  <a:tcPr anchor="ctr" marL="73152" marR="73152" marT="0" marB="0">
                    <a:solidFill>
                      <a:srgbClr val="2F4E6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α %/yr</a:t>
                      </a:r>
                    </a:p>
                  </a:txBody>
                  <a:tcPr anchor="ctr" marL="73152" marR="73152" marT="0" marB="0">
                    <a:solidFill>
                      <a:srgbClr val="2F4E6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</a:t>
                      </a:r>
                    </a:p>
                  </a:txBody>
                  <a:tcPr anchor="ctr" marL="73152" marR="73152" marT="0" marB="0">
                    <a:solidFill>
                      <a:srgbClr val="2F4E6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95% CI</a:t>
                      </a:r>
                    </a:p>
                  </a:txBody>
                  <a:tcPr anchor="ctr" marL="73152" marR="73152" marT="0" marB="0">
                    <a:solidFill>
                      <a:srgbClr val="2F4E6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β</a:t>
                      </a:r>
                    </a:p>
                  </a:txBody>
                  <a:tcPr anchor="ctr" marL="73152" marR="73152" marT="0" marB="0">
                    <a:solidFill>
                      <a:srgbClr val="2F4E6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31721"/>
                          </a:solidFill>
                          <a:latin typeface="Calibri"/>
                        </a:rPr>
                        <a:t>COMBINED</a:t>
                      </a:r>
                    </a:p>
                  </a:txBody>
                  <a:tcPr anchor="ctr" marL="73152" marR="73152" marT="0" marB="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31721"/>
                          </a:solidFill>
                          <a:latin typeface="Calibri"/>
                        </a:rPr>
                        <a:t>all mapped</a:t>
                      </a:r>
                    </a:p>
                  </a:txBody>
                  <a:tcPr anchor="ctr" marL="73152" marR="73152" marT="0" marB="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B4432E"/>
                          </a:solidFill>
                          <a:latin typeface="Consolas"/>
                        </a:rPr>
                        <a:t>−5.34</a:t>
                      </a:r>
                    </a:p>
                  </a:txBody>
                  <a:tcPr anchor="ctr" marL="73152" marR="73152" marT="0" marB="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B4432E"/>
                          </a:solidFill>
                          <a:latin typeface="Consolas"/>
                        </a:rPr>
                        <a:t>-1.11</a:t>
                      </a:r>
                    </a:p>
                  </a:txBody>
                  <a:tcPr anchor="ctr" marL="73152" marR="73152" marT="0" marB="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31721"/>
                          </a:solidFill>
                          <a:latin typeface="Consolas"/>
                        </a:rPr>
                        <a:t>[−14.8, +4.1]</a:t>
                      </a:r>
                    </a:p>
                  </a:txBody>
                  <a:tcPr anchor="ctr" marL="73152" marR="73152" marT="0" marB="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31721"/>
                          </a:solidFill>
                          <a:latin typeface="Consolas"/>
                        </a:rPr>
                        <a:t>1.10</a:t>
                      </a:r>
                    </a:p>
                  </a:txBody>
                  <a:tcPr anchor="ctr" marL="73152" marR="73152" marT="0" marB="0">
                    <a:solidFill>
                      <a:srgbClr val="F2F4F7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31721"/>
                          </a:solidFill>
                          <a:latin typeface="Calibri"/>
                        </a:rPr>
                        <a:t>Science / Commerce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31721"/>
                          </a:solidFill>
                          <a:latin typeface="Calibri"/>
                        </a:rPr>
                        <a:t>Info Tech, Comm Svcs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A6FB0"/>
                          </a:solidFill>
                          <a:latin typeface="Consolas"/>
                        </a:rPr>
                        <a:t>+6.33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31721"/>
                          </a:solidFill>
                          <a:latin typeface="Consolas"/>
                        </a:rPr>
                        <a:t>1.80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31721"/>
                          </a:solidFill>
                          <a:latin typeface="Consolas"/>
                        </a:rPr>
                        <a:t>[−0.6, +13.2]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31721"/>
                          </a:solidFill>
                          <a:latin typeface="Consolas"/>
                        </a:rPr>
                        <a:t>0.99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31721"/>
                          </a:solidFill>
                          <a:latin typeface="Calibri"/>
                        </a:rPr>
                        <a:t>Health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31721"/>
                          </a:solidFill>
                          <a:latin typeface="Calibri"/>
                        </a:rPr>
                        <a:t>Health Care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A6FB0"/>
                          </a:solidFill>
                          <a:latin typeface="Consolas"/>
                        </a:rPr>
                        <a:t>+3.10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31721"/>
                          </a:solidFill>
                          <a:latin typeface="Consolas"/>
                        </a:rPr>
                        <a:t>0.76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31721"/>
                          </a:solidFill>
                          <a:latin typeface="Consolas"/>
                        </a:rPr>
                        <a:t>[−4.9, +11.1]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31721"/>
                          </a:solidFill>
                          <a:latin typeface="Consolas"/>
                        </a:rPr>
                        <a:t>0.74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31721"/>
                          </a:solidFill>
                          <a:latin typeface="Calibri"/>
                        </a:rPr>
                        <a:t>Agriculture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31721"/>
                          </a:solidFill>
                          <a:latin typeface="Calibri"/>
                        </a:rPr>
                        <a:t>Consumer Staples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B4432E"/>
                          </a:solidFill>
                          <a:latin typeface="Consolas"/>
                        </a:rPr>
                        <a:t>−0.68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B4432E"/>
                          </a:solidFill>
                          <a:latin typeface="Consolas"/>
                        </a:rPr>
                        <a:t>-0.09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31721"/>
                          </a:solidFill>
                          <a:latin typeface="Consolas"/>
                        </a:rPr>
                        <a:t>[−15.4, +14.0]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31721"/>
                          </a:solidFill>
                          <a:latin typeface="Consolas"/>
                        </a:rPr>
                        <a:t>0.56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31721"/>
                          </a:solidFill>
                          <a:latin typeface="Calibri"/>
                        </a:rPr>
                        <a:t>Transportation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31721"/>
                          </a:solidFill>
                          <a:latin typeface="Calibri"/>
                        </a:rPr>
                        <a:t>Industrials, Materials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B4432E"/>
                          </a:solidFill>
                          <a:latin typeface="Consolas"/>
                        </a:rPr>
                        <a:t>−1.40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B4432E"/>
                          </a:solidFill>
                          <a:latin typeface="Consolas"/>
                        </a:rPr>
                        <a:t>-0.28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31721"/>
                          </a:solidFill>
                          <a:latin typeface="Consolas"/>
                        </a:rPr>
                        <a:t>[−11.3, +8.5]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31721"/>
                          </a:solidFill>
                          <a:latin typeface="Consolas"/>
                        </a:rPr>
                        <a:t>1.14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31721"/>
                          </a:solidFill>
                          <a:latin typeface="Calibri"/>
                        </a:rPr>
                        <a:t>Armed Services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31721"/>
                          </a:solidFill>
                          <a:latin typeface="Calibri"/>
                        </a:rPr>
                        <a:t>Industrials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B4432E"/>
                          </a:solidFill>
                          <a:latin typeface="Consolas"/>
                        </a:rPr>
                        <a:t>−2.11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B4432E"/>
                          </a:solidFill>
                          <a:latin typeface="Consolas"/>
                        </a:rPr>
                        <a:t>-0.31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31721"/>
                          </a:solidFill>
                          <a:latin typeface="Consolas"/>
                        </a:rPr>
                        <a:t>[−15.2, +11.0]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31721"/>
                          </a:solidFill>
                          <a:latin typeface="Consolas"/>
                        </a:rPr>
                        <a:t>1.24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31721"/>
                          </a:solidFill>
                          <a:latin typeface="Calibri"/>
                        </a:rPr>
                        <a:t>Energy &amp; Commerce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31721"/>
                          </a:solidFill>
                          <a:latin typeface="Calibri"/>
                        </a:rPr>
                        <a:t>Energy, Utilities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B4432E"/>
                          </a:solidFill>
                          <a:latin typeface="Consolas"/>
                        </a:rPr>
                        <a:t>−17.03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B4432E"/>
                          </a:solidFill>
                          <a:latin typeface="Consolas"/>
                        </a:rPr>
                        <a:t>-0.96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31721"/>
                          </a:solidFill>
                          <a:latin typeface="Consolas"/>
                        </a:rPr>
                        <a:t>[−51.9, +17.8]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31721"/>
                          </a:solidFill>
                          <a:latin typeface="Consolas"/>
                        </a:rPr>
                        <a:t>1.26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31721"/>
                          </a:solidFill>
                          <a:latin typeface="Calibri"/>
                        </a:rPr>
                        <a:t>Financial Services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31721"/>
                          </a:solidFill>
                          <a:latin typeface="Calibri"/>
                        </a:rPr>
                        <a:t>Financials, Real Estate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B4432E"/>
                          </a:solidFill>
                          <a:latin typeface="Consolas"/>
                        </a:rPr>
                        <a:t>−19.66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B4432E"/>
                          </a:solidFill>
                          <a:latin typeface="Consolas"/>
                        </a:rPr>
                        <a:t>-1.40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31721"/>
                          </a:solidFill>
                          <a:latin typeface="Consolas"/>
                        </a:rPr>
                        <a:t>[−47.2, +7.9]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31721"/>
                          </a:solidFill>
                          <a:latin typeface="Consolas"/>
                        </a:rPr>
                        <a:t>1.40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539496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1">
                <a:solidFill>
                  <a:srgbClr val="626C7E"/>
                </a:solidFill>
                <a:latin typeface="Calibri"/>
              </a:rPr>
              <a:t>Committee membership reconstructed POINT-IN-TIME for the 116th–118th Congresses from git history — the upstream dataset ships only a current snapshot, which would test 2020 trades against 2025 committee seats.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94360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31721"/>
                </a:solidFill>
                <a:latin typeface="Calibri"/>
              </a:rPr>
              <a:t>Not one committee group clears significance under CAPM.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2F4E6F"/>
                </a:solidFill>
                <a:latin typeface="Consolas"/>
              </a:rPr>
              <a:t>EVERY ESTIMATE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8813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131721"/>
                </a:solidFill>
                <a:latin typeface="Georgia"/>
              </a:rPr>
              <a:t>Significance stars compress; the intervals inform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81328"/>
            <a:ext cx="10908792" cy="9525"/>
          </a:xfrm>
          <a:prstGeom prst="rect">
            <a:avLst/>
          </a:prstGeom>
          <a:solidFill>
            <a:srgbClr val="DCE0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50" b="0" i="0">
                <a:solidFill>
                  <a:srgbClr val="8A93A3"/>
                </a:solidFill>
                <a:latin typeface="Consolas"/>
              </a:rPr>
              <a:t>QF600 · Congressional trading alpha · 7</a:t>
            </a:r>
          </a:p>
        </p:txBody>
      </p:sp>
      <p:pic>
        <p:nvPicPr>
          <p:cNvPr id="6" name="Picture 5" descr="for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691640"/>
            <a:ext cx="10607040" cy="486880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589788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1">
                <a:solidFill>
                  <a:srgbClr val="626C7E"/>
                </a:solidFill>
                <a:latin typeface="Calibri"/>
              </a:rPr>
              <a:t>The two widest — Energy &amp; Commerce and Financial Services — span nearly 70 and 55 percentage points, on 64 and 353 trades. Those are not findings; they are the absence of a measurement.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2F4E6F"/>
                </a:solidFill>
                <a:latin typeface="Consolas"/>
              </a:rPr>
              <a:t>ROBUSTNESS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8813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131721"/>
                </a:solidFill>
                <a:latin typeface="Georgia"/>
              </a:rPr>
              <a:t>The result hinges on where the window was cut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81328"/>
            <a:ext cx="10908792" cy="9525"/>
          </a:xfrm>
          <a:prstGeom prst="rect">
            <a:avLst/>
          </a:prstGeom>
          <a:solidFill>
            <a:srgbClr val="DCE0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50" b="0" i="0">
                <a:solidFill>
                  <a:srgbClr val="8A93A3"/>
                </a:solidFill>
                <a:latin typeface="Consolas"/>
              </a:rPr>
              <a:t>QF600 · Congressional trading alpha · 8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828800"/>
          <a:ext cx="10881360" cy="21122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13560"/>
                <a:gridCol w="1813560"/>
                <a:gridCol w="1813560"/>
                <a:gridCol w="1813560"/>
                <a:gridCol w="1813560"/>
                <a:gridCol w="1813560"/>
              </a:tblGrid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Specification</a:t>
                      </a:r>
                    </a:p>
                  </a:txBody>
                  <a:tcPr anchor="ctr" marL="73152" marR="73152" marT="0" marB="0">
                    <a:solidFill>
                      <a:srgbClr val="2F4E6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α %/yr</a:t>
                      </a:r>
                    </a:p>
                  </a:txBody>
                  <a:tcPr anchor="ctr" marL="73152" marR="73152" marT="0" marB="0">
                    <a:solidFill>
                      <a:srgbClr val="2F4E6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</a:t>
                      </a:r>
                    </a:p>
                  </a:txBody>
                  <a:tcPr anchor="ctr" marL="73152" marR="73152" marT="0" marB="0">
                    <a:solidFill>
                      <a:srgbClr val="2F4E6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95% CI</a:t>
                      </a:r>
                    </a:p>
                  </a:txBody>
                  <a:tcPr anchor="ctr" marL="73152" marR="73152" marT="0" marB="0">
                    <a:solidFill>
                      <a:srgbClr val="2F4E6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β</a:t>
                      </a:r>
                    </a:p>
                  </a:txBody>
                  <a:tcPr anchor="ctr" marL="73152" marR="73152" marT="0" marB="0">
                    <a:solidFill>
                      <a:srgbClr val="2F4E6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</a:t>
                      </a:r>
                    </a:p>
                  </a:txBody>
                  <a:tcPr anchor="ctr" marL="73152" marR="73152" marT="0" marB="0">
                    <a:solidFill>
                      <a:srgbClr val="2F4E6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31721"/>
                          </a:solidFill>
                          <a:latin typeface="Calibri"/>
                        </a:rPr>
                        <a:t>Baseline — equal-weight, 1-month lag</a:t>
                      </a:r>
                    </a:p>
                  </a:txBody>
                  <a:tcPr anchor="ctr" marL="73152" marR="73152" marT="0" marB="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A6FB0"/>
                          </a:solidFill>
                          <a:latin typeface="Consolas"/>
                        </a:rPr>
                        <a:t>+3.49</a:t>
                      </a:r>
                    </a:p>
                  </a:txBody>
                  <a:tcPr anchor="ctr" marL="73152" marR="73152" marT="0" marB="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31721"/>
                          </a:solidFill>
                          <a:latin typeface="Consolas"/>
                        </a:rPr>
                        <a:t>1.34</a:t>
                      </a:r>
                    </a:p>
                  </a:txBody>
                  <a:tcPr anchor="ctr" marL="73152" marR="73152" marT="0" marB="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31721"/>
                          </a:solidFill>
                          <a:latin typeface="Consolas"/>
                        </a:rPr>
                        <a:t>[−1.6, +8.6]</a:t>
                      </a:r>
                    </a:p>
                  </a:txBody>
                  <a:tcPr anchor="ctr" marL="73152" marR="73152" marT="0" marB="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31721"/>
                          </a:solidFill>
                          <a:latin typeface="Consolas"/>
                        </a:rPr>
                        <a:t>1.03</a:t>
                      </a:r>
                    </a:p>
                  </a:txBody>
                  <a:tcPr anchor="ctr" marL="73152" marR="73152" marT="0" marB="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31721"/>
                          </a:solidFill>
                          <a:latin typeface="Consolas"/>
                        </a:rPr>
                        <a:t>60</a:t>
                      </a:r>
                    </a:p>
                  </a:txBody>
                  <a:tcPr anchor="ctr" marL="73152" marR="73152" marT="0" marB="0">
                    <a:solidFill>
                      <a:srgbClr val="F2F4F7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31721"/>
                          </a:solidFill>
                          <a:latin typeface="Calibri"/>
                        </a:rPr>
                        <a:t>Midpoint-size weighted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A6FB0"/>
                          </a:solidFill>
                          <a:latin typeface="Consolas"/>
                        </a:rPr>
                        <a:t>+1.79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31721"/>
                          </a:solidFill>
                          <a:latin typeface="Consolas"/>
                        </a:rPr>
                        <a:t>0.91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31721"/>
                          </a:solidFill>
                          <a:latin typeface="Consolas"/>
                        </a:rPr>
                        <a:t>[−2.1, +5.6]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31721"/>
                          </a:solidFill>
                          <a:latin typeface="Consolas"/>
                        </a:rPr>
                        <a:t>1.00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31721"/>
                          </a:solidFill>
                          <a:latin typeface="Consolas"/>
                        </a:rPr>
                        <a:t>60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31721"/>
                          </a:solidFill>
                          <a:latin typeface="Calibri"/>
                        </a:rPr>
                        <a:t>Zero entry lag (less conservative)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A6FB0"/>
                          </a:solidFill>
                          <a:latin typeface="Consolas"/>
                        </a:rPr>
                        <a:t>+4.01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31721"/>
                          </a:solidFill>
                          <a:latin typeface="Consolas"/>
                        </a:rPr>
                        <a:t>1.44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31721"/>
                          </a:solidFill>
                          <a:latin typeface="Consolas"/>
                        </a:rPr>
                        <a:t>[−1.5, +9.5]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31721"/>
                          </a:solidFill>
                          <a:latin typeface="Consolas"/>
                        </a:rPr>
                        <a:t>1.02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31721"/>
                          </a:solidFill>
                          <a:latin typeface="Consolas"/>
                        </a:rPr>
                        <a:t>60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31721"/>
                          </a:solidFill>
                          <a:latin typeface="Calibri"/>
                        </a:rPr>
                        <a:t>De-duplicated legs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A6FB0"/>
                          </a:solidFill>
                          <a:latin typeface="Consolas"/>
                        </a:rPr>
                        <a:t>+3.08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31721"/>
                          </a:solidFill>
                          <a:latin typeface="Consolas"/>
                        </a:rPr>
                        <a:t>1.28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31721"/>
                          </a:solidFill>
                          <a:latin typeface="Consolas"/>
                        </a:rPr>
                        <a:t>[−1.6, +7.8]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31721"/>
                          </a:solidFill>
                          <a:latin typeface="Consolas"/>
                        </a:rPr>
                        <a:t>1.05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31721"/>
                          </a:solidFill>
                          <a:latin typeface="Consolas"/>
                        </a:rPr>
                        <a:t>60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31721"/>
                          </a:solidFill>
                          <a:latin typeface="Calibri"/>
                        </a:rPr>
                        <a:t>Split A — form 14–18 / eval 19–24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B4432E"/>
                          </a:solidFill>
                          <a:latin typeface="Consolas"/>
                        </a:rPr>
                        <a:t>−0.77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B4432E"/>
                          </a:solidFill>
                          <a:latin typeface="Consolas"/>
                        </a:rPr>
                        <a:t>−0.12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31721"/>
                          </a:solidFill>
                          <a:latin typeface="Consolas"/>
                        </a:rPr>
                        <a:t>[−13.2, +11.7]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31721"/>
                          </a:solidFill>
                          <a:latin typeface="Consolas"/>
                        </a:rPr>
                        <a:t>1.10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31721"/>
                          </a:solidFill>
                          <a:latin typeface="Consolas"/>
                        </a:rPr>
                        <a:t>32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31721"/>
                          </a:solidFill>
                          <a:latin typeface="Calibri"/>
                        </a:rPr>
                        <a:t>Split B — form 14–20 / eval 21–24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B4432E"/>
                          </a:solidFill>
                          <a:latin typeface="Consolas"/>
                        </a:rPr>
                        <a:t>−2.13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B4432E"/>
                          </a:solidFill>
                          <a:latin typeface="Consolas"/>
                        </a:rPr>
                        <a:t>−0.51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31721"/>
                          </a:solidFill>
                          <a:latin typeface="Consolas"/>
                        </a:rPr>
                        <a:t>[−10.3, +6.0]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31721"/>
                          </a:solidFill>
                          <a:latin typeface="Consolas"/>
                        </a:rPr>
                        <a:t>1.29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31721"/>
                          </a:solidFill>
                          <a:latin typeface="Consolas"/>
                        </a:rPr>
                        <a:t>48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4434840"/>
            <a:ext cx="1088136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 i="0">
                <a:solidFill>
                  <a:srgbClr val="131721"/>
                </a:solidFill>
                <a:latin typeface="Georgia"/>
              </a:rPr>
              <a:t>The split-boundary rows are the most informative in the study.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626C7E"/>
                </a:solidFill>
                <a:latin typeface="Calibri"/>
              </a:rPr>
              <a:t>Re-running the entire selection under two other defensible split dates flips the sign. The baseline's positive alpha is not a stable property of these members — it is a property of where the window was cut.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2F4E6F"/>
                </a:solidFill>
                <a:latin typeface="Consolas"/>
              </a:rPr>
              <a:t>MULTIPLE COMPARISONS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8813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131721"/>
                </a:solidFill>
                <a:latin typeface="Georgia"/>
              </a:rPr>
              <a:t>Three significant cells is what chance predicts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81328"/>
            <a:ext cx="10908792" cy="9525"/>
          </a:xfrm>
          <a:prstGeom prst="rect">
            <a:avLst/>
          </a:prstGeom>
          <a:solidFill>
            <a:srgbClr val="DCE0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50" b="0" i="0">
                <a:solidFill>
                  <a:srgbClr val="8A93A3"/>
                </a:solidFill>
                <a:latin typeface="Consolas"/>
              </a:rPr>
              <a:t>QF600 · Congressional trading alpha ·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11680"/>
            <a:ext cx="512064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6400" b="1" i="0">
                <a:solidFill>
                  <a:srgbClr val="2F4E6F"/>
                </a:solidFill>
                <a:latin typeface="Consolas"/>
              </a:rPr>
              <a:t>44</a:t>
            </a:r>
          </a:p>
          <a:p>
            <a:pPr algn="l">
              <a:spcAft>
                <a:spcPts val="2200"/>
              </a:spcAft>
            </a:pPr>
            <a:r>
              <a:rPr sz="1500" b="0" i="0">
                <a:solidFill>
                  <a:srgbClr val="626C7E"/>
                </a:solidFill>
                <a:latin typeface="Calibri"/>
              </a:rPr>
              <a:t>specifications estimated in the main table</a:t>
            </a:r>
          </a:p>
          <a:p>
            <a:pPr algn="l">
              <a:spcAft>
                <a:spcPts val="0"/>
              </a:spcAft>
            </a:pPr>
            <a:r>
              <a:rPr sz="6400" b="1" i="0">
                <a:solidFill>
                  <a:srgbClr val="2F4E6F"/>
                </a:solidFill>
                <a:latin typeface="Consolas"/>
              </a:rPr>
              <a:t>3</a:t>
            </a:r>
          </a:p>
          <a:p>
            <a:pPr algn="l">
              <a:spcAft>
                <a:spcPts val="2200"/>
              </a:spcAft>
            </a:pPr>
            <a:r>
              <a:rPr sz="1500" b="0" i="0">
                <a:solidFill>
                  <a:srgbClr val="626C7E"/>
                </a:solidFill>
                <a:latin typeface="Calibri"/>
              </a:rPr>
              <a:t>cross the 5% threshold</a:t>
            </a:r>
          </a:p>
          <a:p>
            <a:pPr algn="l">
              <a:spcAft>
                <a:spcPts val="0"/>
              </a:spcAft>
            </a:pPr>
            <a:r>
              <a:rPr sz="6400" b="1" i="0">
                <a:solidFill>
                  <a:srgbClr val="B4432E"/>
                </a:solidFill>
                <a:latin typeface="Consolas"/>
              </a:rPr>
              <a:t>≈ 2.2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626C7E"/>
                </a:solidFill>
                <a:latin typeface="Calibri"/>
              </a:rPr>
              <a:t>expected by chance under the null of zero alpha everywhere</a:t>
            </a:r>
          </a:p>
        </p:txBody>
      </p:sp>
      <p:sp>
        <p:nvSpPr>
          <p:cNvPr id="7" name="Rectangle 6"/>
          <p:cNvSpPr/>
          <p:nvPr/>
        </p:nvSpPr>
        <p:spPr>
          <a:xfrm>
            <a:off x="6309360" y="2011680"/>
            <a:ext cx="5212080" cy="32004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09360" y="2011680"/>
            <a:ext cx="5212080" cy="54864"/>
          </a:xfrm>
          <a:prstGeom prst="rect">
            <a:avLst/>
          </a:prstGeom>
          <a:solidFill>
            <a:srgbClr val="B44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2286000"/>
            <a:ext cx="466344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100"/>
              </a:spcAft>
            </a:pPr>
            <a:r>
              <a:rPr sz="1500" b="1" i="0">
                <a:solidFill>
                  <a:srgbClr val="B4432E"/>
                </a:solidFill>
                <a:latin typeface="Georgia"/>
              </a:rPr>
              <a:t>Read this before quoting the one positive result</a:t>
            </a:r>
          </a:p>
          <a:p>
            <a:pPr algn="l">
              <a:spcAft>
                <a:spcPts val="1000"/>
              </a:spcAft>
            </a:pPr>
            <a:r>
              <a:rPr sz="1400" b="0" i="0">
                <a:solidFill>
                  <a:srgbClr val="131721"/>
                </a:solidFill>
                <a:latin typeface="Calibri"/>
              </a:rPr>
              <a:t>Two of the three significant cells are NEGATIVE — the rejected-members control group.</a:t>
            </a:r>
          </a:p>
          <a:p>
            <a:pPr algn="l">
              <a:spcAft>
                <a:spcPts val="1000"/>
              </a:spcAft>
            </a:pPr>
            <a:r>
              <a:rPr sz="1400" b="0" i="0">
                <a:solidFill>
                  <a:srgbClr val="131721"/>
                </a:solidFill>
                <a:latin typeface="Calibri"/>
              </a:rPr>
              <a:t>The single positive one — Science/Commerce under the 4-factor model, +6.78%/yr, t = 2.16 — does not survive its own CAPM specification (t = 1.80), and rests on 463 trades by 24 members.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626C7E"/>
                </a:solidFill>
                <a:latin typeface="Calibri"/>
              </a:rPr>
              <a:t>It is reported because everything is reported. It is not evidence of a tradeable information advantage.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2F4E6F"/>
                </a:solidFill>
                <a:latin typeface="Consolas"/>
              </a:rPr>
              <a:t>WHAT DROVE THE P&amp;L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8813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131721"/>
                </a:solidFill>
                <a:latin typeface="Georgia"/>
              </a:rPr>
              <a:t>One stock is a third of the entire return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81328"/>
            <a:ext cx="10908792" cy="9525"/>
          </a:xfrm>
          <a:prstGeom prst="rect">
            <a:avLst/>
          </a:prstGeom>
          <a:solidFill>
            <a:srgbClr val="DCE0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50" b="0" i="0">
                <a:solidFill>
                  <a:srgbClr val="8A93A3"/>
                </a:solidFill>
                <a:latin typeface="Consolas"/>
              </a:rPr>
              <a:t>QF600 · Congressional trading alpha · 10</a:t>
            </a:r>
          </a:p>
        </p:txBody>
      </p:sp>
      <p:pic>
        <p:nvPicPr>
          <p:cNvPr id="6" name="Picture 5" descr="contri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737360"/>
            <a:ext cx="4953286" cy="3977639"/>
          </a:xfrm>
          <a:prstGeom prst="rect">
            <a:avLst/>
          </a:prstGeom>
        </p:spPr>
      </p:pic>
      <p:pic>
        <p:nvPicPr>
          <p:cNvPr id="7" name="Picture 6" descr="cur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737360"/>
            <a:ext cx="4953286" cy="397763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585216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1">
                <a:solidFill>
                  <a:srgbClr val="626C7E"/>
                </a:solidFill>
                <a:latin typeface="Calibri"/>
              </a:rPr>
              <a:t>NVDA alone contributes 30.8% of the +95.3% total, held by two of the eight members. Ten names of 130 produce 85%. The curve peaks at 127% before the losing half drags it back — a large gross gain net of a substantial gross loss.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2F4E6F"/>
                </a:solidFill>
                <a:latin typeface="Consolas"/>
              </a:rPr>
              <a:t>THE STRUCTURAL WEAKNESS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8813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131721"/>
                </a:solidFill>
                <a:latin typeface="Georgia"/>
              </a:rPr>
              <a:t>The portfolio thins to two members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81328"/>
            <a:ext cx="10908792" cy="9525"/>
          </a:xfrm>
          <a:prstGeom prst="rect">
            <a:avLst/>
          </a:prstGeom>
          <a:solidFill>
            <a:srgbClr val="DCE0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50" b="0" i="0">
                <a:solidFill>
                  <a:srgbClr val="8A93A3"/>
                </a:solidFill>
                <a:latin typeface="Consolas"/>
              </a:rPr>
              <a:t>QF600 · Congressional trading alpha · 11</a:t>
            </a:r>
          </a:p>
        </p:txBody>
      </p:sp>
      <p:pic>
        <p:nvPicPr>
          <p:cNvPr id="6" name="Picture 5" descr="dec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737360"/>
            <a:ext cx="10607040" cy="452103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5349240"/>
            <a:ext cx="1088136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700" b="1" i="0">
                <a:solidFill>
                  <a:srgbClr val="131721"/>
                </a:solidFill>
                <a:latin typeface="Georgia"/>
              </a:rPr>
              <a:t>14 of 60 evaluation months have two or fewer active members.</a:t>
            </a:r>
          </a:p>
          <a:p>
            <a:pPr algn="l">
              <a:spcAft>
                <a:spcPts val="600"/>
              </a:spcAft>
            </a:pPr>
            <a:r>
              <a:rPr sz="1450" b="0" i="0">
                <a:solidFill>
                  <a:srgbClr val="626C7E"/>
                </a:solidFill>
                <a:latin typeface="Calibri"/>
              </a:rPr>
              <a:t>Positions roll off 12 months after disclosure and are never replaced once a member stops filing. By 2024 the “top quartile of congressional traders” is two people holding about seven stocks — so the last quarter of the regression window measures something far smaller than the group it claims to test.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2F4E6F"/>
                </a:solidFill>
                <a:latin typeface="Consolas"/>
              </a:rPr>
              <a:t>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8813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131721"/>
                </a:solidFill>
                <a:latin typeface="Georgia"/>
              </a:rPr>
              <a:t>Stated, not hidden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81328"/>
            <a:ext cx="10908792" cy="9525"/>
          </a:xfrm>
          <a:prstGeom prst="rect">
            <a:avLst/>
          </a:prstGeom>
          <a:solidFill>
            <a:srgbClr val="DCE0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50" b="0" i="0">
                <a:solidFill>
                  <a:srgbClr val="8A93A3"/>
                </a:solidFill>
                <a:latin typeface="Consolas"/>
              </a:rPr>
              <a:t>QF600 · Congressional trading alpha ·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1088136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550" b="1" i="0">
                <a:solidFill>
                  <a:srgbClr val="131721"/>
                </a:solidFill>
                <a:latin typeface="Georgia"/>
              </a:rPr>
              <a:t>Statistical power is the binding constraint.</a:t>
            </a:r>
          </a:p>
          <a:p>
            <a:pPr algn="l">
              <a:spcAft>
                <a:spcPts val="1300"/>
              </a:spcAft>
            </a:pPr>
            <a:r>
              <a:rPr sz="1250" b="0" i="0">
                <a:solidFill>
                  <a:srgbClr val="626C7E"/>
                </a:solidFill>
                <a:latin typeface="Calibri"/>
              </a:rPr>
              <a:t>Sixty monthly observations and eight members cannot resolve a plausible 2–3%/yr alpha. Most results are better described as underpowered than as null.</a:t>
            </a:r>
          </a:p>
          <a:p>
            <a:pPr algn="l">
              <a:spcAft>
                <a:spcPts val="300"/>
              </a:spcAft>
            </a:pPr>
            <a:r>
              <a:rPr sz="1550" b="1" i="0">
                <a:solidFill>
                  <a:srgbClr val="131721"/>
                </a:solidFill>
                <a:latin typeface="Georgia"/>
              </a:rPr>
              <a:t>Delisting bias, and it is not neutral.</a:t>
            </a:r>
          </a:p>
          <a:p>
            <a:pPr algn="l">
              <a:spcAft>
                <a:spcPts val="1300"/>
              </a:spcAft>
            </a:pPr>
            <a:r>
              <a:rPr sz="1250" b="0" i="0">
                <a:solidFill>
                  <a:srgbClr val="626C7E"/>
                </a:solidFill>
                <a:latin typeface="Calibri"/>
              </a:rPr>
              <a:t>617 tickers have no retrievable price history — 10.5% of in-span trades — mostly acquisitions, which typically jump on announcement. This likely understates returns.</a:t>
            </a:r>
          </a:p>
          <a:p>
            <a:pPr algn="l">
              <a:spcAft>
                <a:spcPts val="300"/>
              </a:spcAft>
            </a:pPr>
            <a:r>
              <a:rPr sz="1550" b="1" i="0">
                <a:solidFill>
                  <a:srgbClr val="131721"/>
                </a:solidFill>
                <a:latin typeface="Georgia"/>
              </a:rPr>
              <a:t>The committee→sector map is author-defined.</a:t>
            </a:r>
          </a:p>
          <a:p>
            <a:pPr algn="l">
              <a:spcAft>
                <a:spcPts val="1300"/>
              </a:spcAft>
            </a:pPr>
            <a:r>
              <a:rPr sz="1250" b="0" i="0">
                <a:solidFill>
                  <a:srgbClr val="626C7E"/>
                </a:solidFill>
                <a:latin typeface="Calibri"/>
              </a:rPr>
              <a:t>No dataset exists for it. Every row carries a written oversight rationale, and the conclusion survives both map-robustness variants (−3.86%, −3.64%).</a:t>
            </a:r>
          </a:p>
          <a:p>
            <a:pPr algn="l">
              <a:spcAft>
                <a:spcPts val="300"/>
              </a:spcAft>
            </a:pPr>
            <a:r>
              <a:rPr sz="1550" b="1" i="0">
                <a:solidFill>
                  <a:srgbClr val="131721"/>
                </a:solidFill>
                <a:latin typeface="Georgia"/>
              </a:rPr>
              <a:t>Disclosed amounts are ranges, and sector labels are GICS-like, not licensed GICS.</a:t>
            </a:r>
          </a:p>
          <a:p>
            <a:pPr algn="l">
              <a:spcAft>
                <a:spcPts val="1300"/>
              </a:spcAft>
            </a:pPr>
            <a:r>
              <a:rPr sz="1250" b="0" i="0">
                <a:solidFill>
                  <a:srgbClr val="626C7E"/>
                </a:solidFill>
                <a:latin typeface="Calibri"/>
              </a:rPr>
              <a:t>Equal-weighting is the default for the first reason; the second is a current snapshot.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F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2F4E6F"/>
                </a:solidFill>
                <a:latin typeface="Consolas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8813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131721"/>
                </a:solidFill>
                <a:latin typeface="Georgia"/>
              </a:rPr>
              <a:t>No risk-adjusted alpha in either track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81328"/>
            <a:ext cx="10908792" cy="9525"/>
          </a:xfrm>
          <a:prstGeom prst="rect">
            <a:avLst/>
          </a:prstGeom>
          <a:solidFill>
            <a:srgbClr val="DCE0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35508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50" b="0" i="0">
                <a:solidFill>
                  <a:srgbClr val="8A93A3"/>
                </a:solidFill>
                <a:latin typeface="Consolas"/>
              </a:rPr>
              <a:t>QF600 · Congressional trading alpha ·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1088136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400"/>
              </a:spcAft>
            </a:pPr>
            <a:r>
              <a:rPr sz="1700" b="0" i="0">
                <a:solidFill>
                  <a:srgbClr val="131721"/>
                </a:solidFill>
                <a:latin typeface="Calibri"/>
              </a:rPr>
              <a:t>Track A's positive point estimate is not significant, reverses sign under alternative split dates, and disappears entirely once market exposure is hedged out (long–short α = −0.40%, β falls 1.03 → −0.18).</a:t>
            </a:r>
          </a:p>
          <a:p>
            <a:pPr algn="l">
              <a:spcAft>
                <a:spcPts val="2200"/>
              </a:spcAft>
            </a:pPr>
            <a:r>
              <a:rPr sz="1700" b="0" i="0">
                <a:solidFill>
                  <a:srgbClr val="131721"/>
                </a:solidFill>
                <a:latin typeface="Calibri"/>
              </a:rPr>
              <a:t>Track B is negative throughout and survives every variation of the sector map. The single significant positive cell in 44 specifications is what a multiple-comparisons count predicts.</a:t>
            </a:r>
          </a:p>
          <a:p>
            <a:pPr algn="l">
              <a:spcAft>
                <a:spcPts val="1400"/>
              </a:spcAft>
            </a:pPr>
            <a:r>
              <a:rPr sz="1700" b="0" i="1">
                <a:solidFill>
                  <a:srgbClr val="626C7E"/>
                </a:solidFill>
                <a:latin typeface="Georgia"/>
              </a:rPr>
              <a:t>The correct conclusion is NOT “members of Congress have no skill” — this design lacks the power to establish that.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4343400"/>
            <a:ext cx="10881360" cy="13716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4343400"/>
            <a:ext cx="54864" cy="1371600"/>
          </a:xfrm>
          <a:prstGeom prst="rect">
            <a:avLst/>
          </a:prstGeom>
          <a:solidFill>
            <a:srgbClr val="2F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4572000"/>
            <a:ext cx="1033272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900" b="1" i="0">
                <a:solidFill>
                  <a:srgbClr val="131721"/>
                </a:solidFill>
                <a:latin typeface="Georgia"/>
              </a:rPr>
              <a:t>It is narrower and more defensible: on disclosed trades, entered when the public could actually have entered them, there is no evidence of returns the market factor cannot explain.</a:t>
            </a:r>
          </a:p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626C7E"/>
                </a:solidFill>
                <a:latin typeface="Calibri"/>
              </a:rPr>
              <a:t>The information advantage, if it exists, does not survive the disclosure lag.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